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7.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8.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9.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0.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Films</c:v>
                </c:pt>
              </c:strCache>
            </c:strRef>
          </c:tx>
          <c:spPr>
            <a:solidFill>
              <a:srgbClr val="5B6B8C"/>
            </a:solidFill>
            <a:effectLst/>
          </c:spPr>
          <c:invertIfNegative val="0"/>
          <c:dLbls>
            <c:numFmt formatCode="#,##0" sourceLinked="0"/>
            <c:txPr>
              <a:bodyPr/>
              <a:lstStyle/>
              <a:p>
                <a:pPr>
                  <a:defRPr b="0" i="0" strike="noStrike" sz="1100" u="none">
                    <a:solidFill>
                      <a:srgbClr val="14213D"/>
                    </a:solidFill>
                    <a:latin typeface="Calibri"/>
                  </a:defRPr>
                </a:pPr>
              </a:p>
            </c:txPr>
            <c:showLegendKey val="0"/>
            <c:showVal val="1"/>
            <c:showCatName val="0"/>
            <c:showSerName val="0"/>
            <c:showPercent val="0"/>
            <c:showBubbleSize val="0"/>
            <c:showLeaderLines val="0"/>
          </c:dLbls>
          <c:dPt>
            <c:idx val="0"/>
            <c:invertIfNegative val="0"/>
            <c:bubble3D val="0"/>
            <c:spPr>
              <a:solidFill>
                <a:srgbClr val="5B6B8C"/>
              </a:solidFill>
              <a:effectLst/>
            </c:spPr>
          </c:dPt>
          <c:dPt>
            <c:idx val="1"/>
            <c:invertIfNegative val="0"/>
            <c:bubble3D val="0"/>
            <c:spPr>
              <a:solidFill>
                <a:srgbClr val="5B6B8C"/>
              </a:solidFill>
              <a:effectLst/>
            </c:spPr>
          </c:dPt>
          <c:dPt>
            <c:idx val="2"/>
            <c:invertIfNegative val="0"/>
            <c:bubble3D val="0"/>
            <c:spPr>
              <a:solidFill>
                <a:srgbClr val="1F9E89"/>
              </a:solidFill>
              <a:effectLst/>
            </c:spPr>
          </c:dPt>
          <c:dPt>
            <c:idx val="3"/>
            <c:invertIfNegative val="0"/>
            <c:bubble3D val="0"/>
            <c:spPr>
              <a:solidFill>
                <a:srgbClr val="1F9E89"/>
              </a:solidFill>
              <a:effectLst/>
            </c:spPr>
          </c:dPt>
          <c:dPt>
            <c:idx val="4"/>
            <c:invertIfNegative val="0"/>
            <c:bubble3D val="0"/>
            <c:spPr>
              <a:solidFill>
                <a:srgbClr val="F2B134"/>
              </a:solidFill>
              <a:effectLst/>
            </c:spPr>
          </c:dPt>
          <c:cat>
            <c:multiLvlStrRef>
              <c:f>Sheet1!$A$2:$A$6</c:f>
              <c:multiLvlStrCache>
                <c:ptCount val="5"/>
                <c:lvl>
                  <c:pt idx="0">
                    <c:v>Raw rows</c:v>
                  </c:pt>
                  <c:pt idx="1">
                    <c:v>Valid unique films</c:v>
                  </c:pt>
                  <c:pt idx="2">
                    <c:v>Budget reported (≥$10K)</c:v>
                  </c:pt>
                  <c:pt idx="3">
                    <c:v>Revenue reported (≥$10K)</c:v>
                  </c:pt>
                  <c:pt idx="4">
                    <c:v>Both reported (analysis set)</c:v>
                  </c:pt>
                </c:lvl>
              </c:multiLvlStrCache>
            </c:multiLvlStrRef>
          </c:cat>
          <c:val>
            <c:numRef>
              <c:f>Sheet1!$B$2:$B$6</c:f>
              <c:numCache>
                <c:formatCode>General</c:formatCode>
                <c:ptCount val="5"/>
                <c:pt idx="0">
                  <c:v>45466</c:v>
                </c:pt>
                <c:pt idx="1">
                  <c:v>45433</c:v>
                </c:pt>
                <c:pt idx="2">
                  <c:v>8582</c:v>
                </c:pt>
                <c:pt idx="3">
                  <c:v>7161</c:v>
                </c:pt>
                <c:pt idx="4">
                  <c:v>5275</c:v>
                </c:pt>
              </c:numCache>
            </c:numRef>
          </c:val>
        </c:ser>
        <c:dLbls>
          <c:numFmt formatCode="#,##0" sourceLinked="0"/>
          <c:txPr>
            <a:bodyPr/>
            <a:lstStyle/>
            <a:p>
              <a:pPr>
                <a:defRPr b="0" i="0" strike="noStrike" sz="1100" u="none">
                  <a:solidFill>
                    <a:srgbClr val="14213D"/>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4213D"/>
                </a:solidFill>
                <a:latin typeface="Calibri"/>
              </a:defRPr>
            </a:pPr>
            <a:endParaRPr lang="en-US"/>
          </a:p>
        </c:txPr>
        <c:crossAx val="2094734552"/>
        <c:crosses val="autoZero"/>
        <c:auto val="1"/>
        <c:lblAlgn val="ctr"/>
        <c:noMultiLvlLbl val="1"/>
      </c:catAx>
      <c:valAx>
        <c:axId val="2094734552"/>
        <c:scaling>
          <c:orientation val="minMax"/>
          <c:max val="56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8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Budget (films per bracket)</c:v>
                </c:pt>
              </c:strCache>
            </c:strRef>
          </c:tx>
          <c:spPr>
            <a:solidFill>
              <a:srgbClr val="5B6B8C"/>
            </a:solidFill>
            <a:effectLst/>
          </c:spPr>
          <c:invertIfNegative val="0"/>
          <c:dLbls>
            <c:numFmt formatCode="#,##0" sourceLinked="0"/>
            <c:txPr>
              <a:bodyPr/>
              <a:lstStyle/>
              <a:p>
                <a:pPr>
                  <a:defRPr b="0" i="0" strike="noStrike" sz="1000" u="none">
                    <a:solidFill>
                      <a:srgbClr val="14213D"/>
                    </a:solidFill>
                    <a:latin typeface="Calibri"/>
                  </a:defRPr>
                </a:pPr>
              </a:p>
            </c:txPr>
            <c:showLegendKey val="0"/>
            <c:showVal val="1"/>
            <c:showCatName val="0"/>
            <c:showSerName val="0"/>
            <c:showPercent val="0"/>
            <c:showBubbleSize val="0"/>
            <c:showLeaderLines val="0"/>
          </c:dLbls>
          <c:cat>
            <c:multiLvlStrRef>
              <c:f>Sheet1!$A$2:$A$7</c:f>
              <c:multiLvlStrCache>
                <c:ptCount val="6"/>
                <c:lvl>
                  <c:pt idx="0">
                    <c:v>$10K-100K</c:v>
                  </c:pt>
                  <c:pt idx="1">
                    <c:v>$100K-1M</c:v>
                  </c:pt>
                  <c:pt idx="2">
                    <c:v>$1M-10M</c:v>
                  </c:pt>
                  <c:pt idx="3">
                    <c:v>$10M-100M</c:v>
                  </c:pt>
                  <c:pt idx="4">
                    <c:v>$100M-1B</c:v>
                  </c:pt>
                  <c:pt idx="5">
                    <c:v>$1B+</c:v>
                  </c:pt>
                </c:lvl>
              </c:multiLvlStrCache>
            </c:multiLvlStrRef>
          </c:cat>
          <c:val>
            <c:numRef>
              <c:f>Sheet1!$B$2:$B$7</c:f>
              <c:numCache>
                <c:formatCode>General</c:formatCode>
                <c:ptCount val="6"/>
                <c:pt idx="0">
                  <c:v>43</c:v>
                </c:pt>
                <c:pt idx="1">
                  <c:v>283</c:v>
                </c:pt>
                <c:pt idx="2">
                  <c:v>1470</c:v>
                </c:pt>
                <c:pt idx="3">
                  <c:v>3107</c:v>
                </c:pt>
                <c:pt idx="4">
                  <c:v>372</c:v>
                </c:pt>
                <c:pt idx="5">
                  <c:v>0</c:v>
                </c:pt>
              </c:numCache>
            </c:numRef>
          </c:val>
        </c:ser>
        <c:dLbls>
          <c:numFmt formatCode="#,##0" sourceLinked="0"/>
          <c:txPr>
            <a:bodyPr/>
            <a:lstStyle/>
            <a:p>
              <a:pPr>
                <a:defRPr b="0" i="0" strike="noStrike" sz="1000" u="none">
                  <a:solidFill>
                    <a:srgbClr val="14213D"/>
                  </a:solidFill>
                  <a:latin typeface="Calibri"/>
                </a:defRPr>
              </a:pPr>
            </a:p>
          </c:txPr>
          <c:showLegendKey val="0"/>
          <c:showVal val="1"/>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4213D"/>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(films per bracket)</c:v>
                </c:pt>
              </c:strCache>
            </c:strRef>
          </c:tx>
          <c:spPr>
            <a:solidFill>
              <a:srgbClr val="5B6B8C"/>
            </a:solidFill>
            <a:effectLst/>
          </c:spPr>
          <c:invertIfNegative val="0"/>
          <c:dLbls>
            <c:numFmt formatCode="#,##0" sourceLinked="0"/>
            <c:txPr>
              <a:bodyPr/>
              <a:lstStyle/>
              <a:p>
                <a:pPr>
                  <a:defRPr b="0" i="0" strike="noStrike" sz="1000" u="none">
                    <a:solidFill>
                      <a:srgbClr val="14213D"/>
                    </a:solidFill>
                    <a:latin typeface="Calibri"/>
                  </a:defRPr>
                </a:pPr>
              </a:p>
            </c:txPr>
            <c:showLegendKey val="0"/>
            <c:showVal val="1"/>
            <c:showCatName val="0"/>
            <c:showSerName val="0"/>
            <c:showPercent val="0"/>
            <c:showBubbleSize val="0"/>
            <c:showLeaderLines val="0"/>
          </c:dLbls>
          <c:cat>
            <c:multiLvlStrRef>
              <c:f>Sheet1!$A$2:$A$7</c:f>
              <c:multiLvlStrCache>
                <c:ptCount val="6"/>
                <c:lvl>
                  <c:pt idx="0">
                    <c:v>$10K-100K</c:v>
                  </c:pt>
                  <c:pt idx="1">
                    <c:v>$100K-1M</c:v>
                  </c:pt>
                  <c:pt idx="2">
                    <c:v>$1M-10M</c:v>
                  </c:pt>
                  <c:pt idx="3">
                    <c:v>$10M-100M</c:v>
                  </c:pt>
                  <c:pt idx="4">
                    <c:v>$100M-1B</c:v>
                  </c:pt>
                  <c:pt idx="5">
                    <c:v>$1B+</c:v>
                  </c:pt>
                </c:lvl>
              </c:multiLvlStrCache>
            </c:multiLvlStrRef>
          </c:cat>
          <c:val>
            <c:numRef>
              <c:f>Sheet1!$B$2:$B$7</c:f>
              <c:numCache>
                <c:formatCode>General</c:formatCode>
                <c:ptCount val="6"/>
                <c:pt idx="0">
                  <c:v>111</c:v>
                </c:pt>
                <c:pt idx="1">
                  <c:v>332</c:v>
                </c:pt>
                <c:pt idx="2">
                  <c:v>1046</c:v>
                </c:pt>
                <c:pt idx="3">
                  <c:v>2442</c:v>
                </c:pt>
                <c:pt idx="4">
                  <c:v>1315</c:v>
                </c:pt>
                <c:pt idx="5">
                  <c:v>29</c:v>
                </c:pt>
              </c:numCache>
            </c:numRef>
          </c:val>
        </c:ser>
        <c:dLbls>
          <c:numFmt formatCode="#,##0" sourceLinked="0"/>
          <c:txPr>
            <a:bodyPr/>
            <a:lstStyle/>
            <a:p>
              <a:pPr>
                <a:defRPr b="0" i="0" strike="noStrike" sz="1000" u="none">
                  <a:solidFill>
                    <a:srgbClr val="14213D"/>
                  </a:solidFill>
                  <a:latin typeface="Calibri"/>
                </a:defRPr>
              </a:pPr>
            </a:p>
          </c:txPr>
          <c:showLegendKey val="0"/>
          <c:showVal val="1"/>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4213D"/>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ROI multiple (films per bracket)</c:v>
                </c:pt>
              </c:strCache>
            </c:strRef>
          </c:tx>
          <c:spPr>
            <a:solidFill>
              <a:srgbClr val="1F9E89"/>
            </a:solidFill>
            <a:effectLst/>
          </c:spPr>
          <c:invertIfNegative val="0"/>
          <c:dLbls>
            <c:numFmt formatCode="#,##0" sourceLinked="0"/>
            <c:txPr>
              <a:bodyPr/>
              <a:lstStyle/>
              <a:p>
                <a:pPr>
                  <a:defRPr b="0" i="0" strike="noStrike" sz="1000" u="none">
                    <a:solidFill>
                      <a:srgbClr val="14213D"/>
                    </a:solidFill>
                    <a:latin typeface="Calibri"/>
                  </a:defRPr>
                </a:pPr>
              </a:p>
            </c:txPr>
            <c:showLegendKey val="0"/>
            <c:showVal val="1"/>
            <c:showCatName val="0"/>
            <c:showSerName val="0"/>
            <c:showPercent val="0"/>
            <c:showBubbleSize val="0"/>
            <c:showLeaderLines val="0"/>
          </c:dLbls>
          <c:cat>
            <c:multiLvlStrRef>
              <c:f>Sheet1!$A$2:$A$8</c:f>
              <c:multiLvlStrCache>
                <c:ptCount val="7"/>
                <c:lvl>
                  <c:pt idx="0">
                    <c:v>&lt;0.5x</c:v>
                  </c:pt>
                  <c:pt idx="1">
                    <c:v>0.5-1x</c:v>
                  </c:pt>
                  <c:pt idx="2">
                    <c:v>1-2x</c:v>
                  </c:pt>
                  <c:pt idx="3">
                    <c:v>2-4x</c:v>
                  </c:pt>
                  <c:pt idx="4">
                    <c:v>4-8x</c:v>
                  </c:pt>
                  <c:pt idx="5">
                    <c:v>8-16x</c:v>
                  </c:pt>
                  <c:pt idx="6">
                    <c:v>16x+</c:v>
                  </c:pt>
                </c:lvl>
              </c:multiLvlStrCache>
            </c:multiLvlStrRef>
          </c:cat>
          <c:val>
            <c:numRef>
              <c:f>Sheet1!$B$2:$B$8</c:f>
              <c:numCache>
                <c:formatCode>General</c:formatCode>
                <c:ptCount val="7"/>
                <c:pt idx="0">
                  <c:v>895</c:v>
                </c:pt>
                <c:pt idx="1">
                  <c:v>649</c:v>
                </c:pt>
                <c:pt idx="2">
                  <c:v>1007</c:v>
                </c:pt>
                <c:pt idx="3">
                  <c:v>1301</c:v>
                </c:pt>
                <c:pt idx="4">
                  <c:v>813</c:v>
                </c:pt>
                <c:pt idx="5">
                  <c:v>360</c:v>
                </c:pt>
                <c:pt idx="6">
                  <c:v>250</c:v>
                </c:pt>
              </c:numCache>
            </c:numRef>
          </c:val>
        </c:ser>
        <c:dLbls>
          <c:numFmt formatCode="#,##0" sourceLinked="0"/>
          <c:txPr>
            <a:bodyPr/>
            <a:lstStyle/>
            <a:p>
              <a:pPr>
                <a:defRPr b="0" i="0" strike="noStrike" sz="1000" u="none">
                  <a:solidFill>
                    <a:srgbClr val="14213D"/>
                  </a:solidFill>
                  <a:latin typeface="Calibri"/>
                </a:defRPr>
              </a:pPr>
            </a:p>
          </c:txPr>
          <c:showLegendKey val="0"/>
          <c:showVal val="1"/>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4213D"/>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Vote average (films per bracket)</c:v>
                </c:pt>
              </c:strCache>
            </c:strRef>
          </c:tx>
          <c:spPr>
            <a:solidFill>
              <a:srgbClr val="F2B134"/>
            </a:solidFill>
            <a:effectLst/>
          </c:spPr>
          <c:invertIfNegative val="0"/>
          <c:dLbls>
            <c:numFmt formatCode="#,##0" sourceLinked="0"/>
            <c:txPr>
              <a:bodyPr/>
              <a:lstStyle/>
              <a:p>
                <a:pPr>
                  <a:defRPr b="0" i="0" strike="noStrike" sz="1000" u="none">
                    <a:solidFill>
                      <a:srgbClr val="14213D"/>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&lt;4</c:v>
                  </c:pt>
                  <c:pt idx="1">
                    <c:v>4-5</c:v>
                  </c:pt>
                  <c:pt idx="2">
                    <c:v>5-5.5</c:v>
                  </c:pt>
                  <c:pt idx="3">
                    <c:v>5.5-6</c:v>
                  </c:pt>
                  <c:pt idx="4">
                    <c:v>6-6.5</c:v>
                  </c:pt>
                  <c:pt idx="5">
                    <c:v>6.5-7</c:v>
                  </c:pt>
                  <c:pt idx="6">
                    <c:v>7-7.5</c:v>
                  </c:pt>
                  <c:pt idx="7">
                    <c:v>7.5-8</c:v>
                  </c:pt>
                  <c:pt idx="8">
                    <c:v>8+</c:v>
                  </c:pt>
                </c:lvl>
              </c:multiLvlStrCache>
            </c:multiLvlStrRef>
          </c:cat>
          <c:val>
            <c:numRef>
              <c:f>Sheet1!$B$2:$B$10</c:f>
              <c:numCache>
                <c:formatCode>General</c:formatCode>
                <c:ptCount val="9"/>
                <c:pt idx="0">
                  <c:v>66</c:v>
                </c:pt>
                <c:pt idx="1">
                  <c:v>279</c:v>
                </c:pt>
                <c:pt idx="2">
                  <c:v>493</c:v>
                </c:pt>
                <c:pt idx="3">
                  <c:v>905</c:v>
                </c:pt>
                <c:pt idx="4">
                  <c:v>1155</c:v>
                </c:pt>
                <c:pt idx="5">
                  <c:v>1138</c:v>
                </c:pt>
                <c:pt idx="6">
                  <c:v>785</c:v>
                </c:pt>
                <c:pt idx="7">
                  <c:v>353</c:v>
                </c:pt>
                <c:pt idx="8">
                  <c:v>97</c:v>
                </c:pt>
              </c:numCache>
            </c:numRef>
          </c:val>
        </c:ser>
        <c:dLbls>
          <c:numFmt formatCode="#,##0" sourceLinked="0"/>
          <c:txPr>
            <a:bodyPr/>
            <a:lstStyle/>
            <a:p>
              <a:pPr>
                <a:defRPr b="0" i="0" strike="noStrike" sz="1000" u="none">
                  <a:solidFill>
                    <a:srgbClr val="14213D"/>
                  </a:solidFill>
                  <a:latin typeface="Calibri"/>
                </a:defRPr>
              </a:pPr>
            </a:p>
          </c:txPr>
          <c:showLegendKey val="0"/>
          <c:showVal val="1"/>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4213D"/>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Calibri"/>
              </a:defRPr>
            </a:pPr>
            <a:r>
              <a:rPr sz="1200" b="0" i="0" u="none" strike="noStrike">
                <a:solidFill>
                  <a:srgbClr val="14213D"/>
                </a:solidFill>
                <a:latin typeface="Calibri"/>
              </a:rPr>
              <a:t>Median ROI by budget bracket</a:t>
            </a:r>
          </a:p>
        </c:rich>
      </c:tx>
      <c:layout/>
      <c:overlay val="0"/>
    </c:title>
    <c:autoTitleDeleted val="0"/>
    <c:plotArea>
      <c:layout/>
      <c:barChart>
        <c:barDir val="col"/>
        <c:grouping val="clustered"/>
        <c:varyColors val="0"/>
        <c:ser>
          <c:idx val="0"/>
          <c:order val="0"/>
          <c:tx>
            <c:strRef>
              <c:f>Sheet1!$B$1</c:f>
              <c:strCache>
                <c:ptCount val="1"/>
                <c:pt idx="0">
                  <c:v>Median ROI</c:v>
                </c:pt>
              </c:strCache>
            </c:strRef>
          </c:tx>
          <c:spPr>
            <a:solidFill>
              <a:srgbClr val="C9D1E0"/>
            </a:solidFill>
            <a:effectLst/>
          </c:spPr>
          <c:invertIfNegative val="0"/>
          <c:dLbls>
            <c:numFmt formatCode="0.0&quot;x&quot;" sourceLinked="0"/>
            <c:txPr>
              <a:bodyPr/>
              <a:lstStyle/>
              <a:p>
                <a:pPr>
                  <a:defRPr b="0" i="0" strike="noStrike" sz="1100" u="none">
                    <a:solidFill>
                      <a:srgbClr val="14213D"/>
                    </a:solidFill>
                    <a:latin typeface="Calibri"/>
                  </a:defRPr>
                </a:pPr>
              </a:p>
            </c:txPr>
            <c:showLegendKey val="0"/>
            <c:showVal val="1"/>
            <c:showCatName val="0"/>
            <c:showSerName val="0"/>
            <c:showPercent val="0"/>
            <c:showBubbleSize val="0"/>
            <c:showLeaderLines val="0"/>
          </c:dLbls>
          <c:dPt>
            <c:idx val="0"/>
            <c:invertIfNegative val="0"/>
            <c:bubble3D val="0"/>
            <c:spPr>
              <a:solidFill>
                <a:srgbClr val="C9D1E0"/>
              </a:solidFill>
              <a:effectLst/>
            </c:spPr>
          </c:dPt>
          <c:dPt>
            <c:idx val="1"/>
            <c:invertIfNegative val="0"/>
            <c:bubble3D val="0"/>
            <c:spPr>
              <a:solidFill>
                <a:srgbClr val="C9D1E0"/>
              </a:solidFill>
              <a:effectLst/>
            </c:spPr>
          </c:dPt>
          <c:dPt>
            <c:idx val="2"/>
            <c:invertIfNegative val="0"/>
            <c:bubble3D val="0"/>
            <c:spPr>
              <a:solidFill>
                <a:srgbClr val="E4572E"/>
              </a:solidFill>
              <a:effectLst/>
            </c:spPr>
          </c:dPt>
          <c:dPt>
            <c:idx val="3"/>
            <c:invertIfNegative val="0"/>
            <c:bubble3D val="0"/>
            <c:spPr>
              <a:solidFill>
                <a:srgbClr val="E4572E"/>
              </a:solidFill>
              <a:effectLst/>
            </c:spPr>
          </c:dPt>
          <c:dPt>
            <c:idx val="4"/>
            <c:invertIfNegative val="0"/>
            <c:bubble3D val="0"/>
            <c:spPr>
              <a:solidFill>
                <a:srgbClr val="C9D1E0"/>
              </a:solidFill>
              <a:effectLst/>
            </c:spPr>
          </c:dPt>
          <c:dPt>
            <c:idx val="5"/>
            <c:invertIfNegative val="0"/>
            <c:bubble3D val="0"/>
            <c:spPr>
              <a:solidFill>
                <a:srgbClr val="1F9E89"/>
              </a:solidFill>
              <a:effectLst/>
            </c:spPr>
          </c:dPt>
          <c:dPt>
            <c:idx val="6"/>
            <c:invertIfNegative val="0"/>
            <c:bubble3D val="0"/>
            <c:spPr>
              <a:solidFill>
                <a:srgbClr val="1F9E89"/>
              </a:solidFill>
              <a:effectLst/>
            </c:spPr>
          </c:dPt>
          <c:cat>
            <c:multiLvlStrRef>
              <c:f>Sheet1!$A$2:$A$8</c:f>
              <c:multiLvlStrCache>
                <c:ptCount val="7"/>
                <c:lvl>
                  <c:pt idx="0">
                    <c:v>&lt;$1M</c:v>
                  </c:pt>
                  <c:pt idx="1">
                    <c:v>$1-5M</c:v>
                  </c:pt>
                  <c:pt idx="2">
                    <c:v>$5-15M</c:v>
                  </c:pt>
                  <c:pt idx="3">
                    <c:v>$15-30M</c:v>
                  </c:pt>
                  <c:pt idx="4">
                    <c:v>$30-60M</c:v>
                  </c:pt>
                  <c:pt idx="5">
                    <c:v>$60-100M</c:v>
                  </c:pt>
                  <c:pt idx="6">
                    <c:v>$100M+</c:v>
                  </c:pt>
                </c:lvl>
              </c:multiLvlStrCache>
            </c:multiLvlStrRef>
          </c:cat>
          <c:val>
            <c:numRef>
              <c:f>Sheet1!$B$2:$B$8</c:f>
              <c:numCache>
                <c:formatCode>General</c:formatCode>
                <c:ptCount val="7"/>
                <c:pt idx="0">
                  <c:v>4.95</c:v>
                </c:pt>
                <c:pt idx="1">
                  <c:v>2.514</c:v>
                </c:pt>
                <c:pt idx="2">
                  <c:v>1.869</c:v>
                </c:pt>
                <c:pt idx="3">
                  <c:v>1.605</c:v>
                </c:pt>
                <c:pt idx="4">
                  <c:v>1.863</c:v>
                </c:pt>
                <c:pt idx="5">
                  <c:v>2.029</c:v>
                </c:pt>
                <c:pt idx="6">
                  <c:v>2.773</c:v>
                </c:pt>
              </c:numCache>
            </c:numRef>
          </c:val>
        </c:ser>
        <c:dLbls>
          <c:numFmt formatCode="0.0&quot;x&quot;" sourceLinked="0"/>
          <c:txPr>
            <a:bodyPr/>
            <a:lstStyle/>
            <a:p>
              <a:pPr>
                <a:defRPr b="0" i="0" strike="noStrike" sz="1100" u="none">
                  <a:solidFill>
                    <a:srgbClr val="14213D"/>
                  </a:solidFill>
                  <a:latin typeface="Calibri"/>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4213D"/>
                </a:solidFill>
                <a:latin typeface="Calibri"/>
              </a:defRPr>
            </a:pPr>
            <a:endParaRPr lang="en-US"/>
          </a:p>
        </c:txPr>
        <c:crossAx val="2094734552"/>
        <c:crosses val="autoZero"/>
        <c:auto val="1"/>
        <c:lblAlgn val="ctr"/>
        <c:noMultiLvlLbl val="1"/>
      </c:catAx>
      <c:valAx>
        <c:axId val="2094734552"/>
        <c:scaling>
          <c:orientation val="minMax"/>
          <c:max val="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Standalone</c:v>
                </c:pt>
              </c:strCache>
            </c:strRef>
          </c:tx>
          <c:spPr>
            <a:solidFill>
              <a:srgbClr val="C9D1E0"/>
            </a:solidFill>
            <a:effectLst/>
          </c:spPr>
          <c:invertIfNegative val="0"/>
          <c:dLbls>
            <c:numFmt formatCode="0.0"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cat>
            <c:multiLvlStrRef>
              <c:f>Sheet1!$A$2:$A$8</c:f>
              <c:multiLvlStrCache>
                <c:ptCount val="7"/>
                <c:lvl>
                  <c:pt idx="0">
                    <c:v>&lt;$1M</c:v>
                  </c:pt>
                  <c:pt idx="1">
                    <c:v>$1-5M</c:v>
                  </c:pt>
                  <c:pt idx="2">
                    <c:v>$5-15M</c:v>
                  </c:pt>
                  <c:pt idx="3">
                    <c:v>$15-30M</c:v>
                  </c:pt>
                  <c:pt idx="4">
                    <c:v>$30-60M</c:v>
                  </c:pt>
                  <c:pt idx="5">
                    <c:v>$60-100M</c:v>
                  </c:pt>
                  <c:pt idx="6">
                    <c:v>$100M+</c:v>
                  </c:pt>
                </c:lvl>
              </c:multiLvlStrCache>
            </c:multiLvlStrRef>
          </c:cat>
          <c:val>
            <c:numRef>
              <c:f>Sheet1!$B$2:$B$8</c:f>
              <c:numCache>
                <c:formatCode>General</c:formatCode>
                <c:ptCount val="7"/>
                <c:pt idx="0">
                  <c:v>3.85</c:v>
                </c:pt>
                <c:pt idx="1">
                  <c:v>2.04</c:v>
                </c:pt>
                <c:pt idx="2">
                  <c:v>1.5</c:v>
                </c:pt>
                <c:pt idx="3">
                  <c:v>1.21</c:v>
                </c:pt>
                <c:pt idx="4">
                  <c:v>1.51</c:v>
                </c:pt>
                <c:pt idx="5">
                  <c:v>1.65</c:v>
                </c:pt>
                <c:pt idx="6">
                  <c:v>2.02</c:v>
                </c:pt>
              </c:numCache>
            </c:numRef>
          </c:val>
        </c:ser>
        <c:ser>
          <c:idx val="1"/>
          <c:order val="1"/>
          <c:tx>
            <c:strRef>
              <c:f>Sheet1!$C$1</c:f>
              <c:strCache>
                <c:ptCount val="1"/>
                <c:pt idx="0">
                  <c:v>Part of a collection</c:v>
                </c:pt>
              </c:strCache>
            </c:strRef>
          </c:tx>
          <c:spPr>
            <a:solidFill>
              <a:srgbClr val="1F9E89"/>
            </a:solidFill>
            <a:effectLst/>
          </c:spPr>
          <c:invertIfNegative val="0"/>
          <c:dLbls>
            <c:numFmt formatCode="0.0"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cat>
            <c:multiLvlStrRef>
              <c:f>Sheet1!$A$2:$A$8</c:f>
              <c:multiLvlStrCache>
                <c:ptCount val="7"/>
                <c:lvl>
                  <c:pt idx="0">
                    <c:v>&lt;$1M</c:v>
                  </c:pt>
                  <c:pt idx="1">
                    <c:v>$1-5M</c:v>
                  </c:pt>
                  <c:pt idx="2">
                    <c:v>$5-15M</c:v>
                  </c:pt>
                  <c:pt idx="3">
                    <c:v>$15-30M</c:v>
                  </c:pt>
                  <c:pt idx="4">
                    <c:v>$30-60M</c:v>
                  </c:pt>
                  <c:pt idx="5">
                    <c:v>$60-100M</c:v>
                  </c:pt>
                  <c:pt idx="6">
                    <c:v>$100M+</c:v>
                  </c:pt>
                </c:lvl>
              </c:multiLvlStrCache>
            </c:multiLvlStrRef>
          </c:cat>
          <c:val>
            <c:numRef>
              <c:f>Sheet1!$C$2:$C$8</c:f>
              <c:numCache>
                <c:formatCode>General</c:formatCode>
                <c:ptCount val="7"/>
                <c:pt idx="0">
                  <c:v>20.33</c:v>
                </c:pt>
                <c:pt idx="1">
                  <c:v>6.01</c:v>
                </c:pt>
                <c:pt idx="2">
                  <c:v>4.22</c:v>
                </c:pt>
                <c:pt idx="3">
                  <c:v>3.47</c:v>
                </c:pt>
                <c:pt idx="4">
                  <c:v>3.14</c:v>
                </c:pt>
                <c:pt idx="5">
                  <c:v>3.39</c:v>
                </c:pt>
                <c:pt idx="6">
                  <c:v>3.49</c:v>
                </c:pt>
              </c:numCache>
            </c:numRef>
          </c:val>
        </c:ser>
        <c:dLbls>
          <c:numFmt formatCode="0.0"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4213D"/>
                </a:solidFill>
                <a:latin typeface="Calibri"/>
              </a:defRPr>
            </a:pPr>
            <a:endParaRPr lang="en-US"/>
          </a:p>
        </c:txPr>
        <c:crossAx val="2094734552"/>
        <c:crosses val="autoZero"/>
        <c:auto val="1"/>
        <c:lblAlgn val="ctr"/>
        <c:noMultiLvlLbl val="1"/>
      </c:catAx>
      <c:valAx>
        <c:axId val="2094734552"/>
        <c:scaling>
          <c:orientation val="minMax"/>
          <c:max val="2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C"/>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4213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Median ROI</c:v>
                </c:pt>
              </c:strCache>
            </c:strRef>
          </c:tx>
          <c:spPr>
            <a:solidFill>
              <a:srgbClr val="1F9E89"/>
            </a:solidFill>
            <a:effectLst/>
          </c:spPr>
          <c:invertIfNegative val="0"/>
          <c:dLbls>
            <c:numFmt formatCode="0.0&quot;x&quot;" sourceLinked="0"/>
            <c:txPr>
              <a:bodyPr/>
              <a:lstStyle/>
              <a:p>
                <a:pPr>
                  <a:defRPr b="0" i="0" strike="noStrike" sz="1000" u="none">
                    <a:solidFill>
                      <a:srgbClr val="14213D"/>
                    </a:solidFill>
                    <a:latin typeface="Calibri"/>
                  </a:defRPr>
                </a:pPr>
              </a:p>
            </c:txPr>
            <c:showLegendKey val="0"/>
            <c:showVal val="1"/>
            <c:showCatName val="0"/>
            <c:showSerName val="0"/>
            <c:showPercent val="0"/>
            <c:showBubbleSize val="0"/>
            <c:showLeaderLines val="0"/>
          </c:dLbls>
          <c:dPt>
            <c:idx val="0"/>
            <c:invertIfNegative val="0"/>
            <c:bubble3D val="0"/>
            <c:spPr>
              <a:solidFill>
                <a:srgbClr val="1F9E89"/>
              </a:solidFill>
              <a:effectLst/>
            </c:spPr>
          </c:dPt>
          <c:dPt>
            <c:idx val="1"/>
            <c:invertIfNegative val="0"/>
            <c:bubble3D val="0"/>
            <c:spPr>
              <a:solidFill>
                <a:srgbClr val="1F9E89"/>
              </a:solidFill>
              <a:effectLst/>
            </c:spPr>
          </c:dPt>
          <c:dPt>
            <c:idx val="2"/>
            <c:invertIfNegative val="0"/>
            <c:bubble3D val="0"/>
            <c:spPr>
              <a:solidFill>
                <a:srgbClr val="C9D1E0"/>
              </a:solidFill>
              <a:effectLst/>
            </c:spPr>
          </c:dPt>
          <c:dPt>
            <c:idx val="3"/>
            <c:invertIfNegative val="0"/>
            <c:bubble3D val="0"/>
            <c:spPr>
              <a:solidFill>
                <a:srgbClr val="C9D1E0"/>
              </a:solidFill>
              <a:effectLst/>
            </c:spPr>
          </c:dPt>
          <c:dPt>
            <c:idx val="4"/>
            <c:invertIfNegative val="0"/>
            <c:bubble3D val="0"/>
            <c:spPr>
              <a:solidFill>
                <a:srgbClr val="C9D1E0"/>
              </a:solidFill>
              <a:effectLst/>
            </c:spPr>
          </c:dPt>
          <c:dPt>
            <c:idx val="5"/>
            <c:invertIfNegative val="0"/>
            <c:bubble3D val="0"/>
            <c:spPr>
              <a:solidFill>
                <a:srgbClr val="C9D1E0"/>
              </a:solidFill>
              <a:effectLst/>
            </c:spPr>
          </c:dPt>
          <c:dPt>
            <c:idx val="6"/>
            <c:invertIfNegative val="0"/>
            <c:bubble3D val="0"/>
            <c:spPr>
              <a:solidFill>
                <a:srgbClr val="C9D1E0"/>
              </a:solidFill>
              <a:effectLst/>
            </c:spPr>
          </c:dPt>
          <c:dPt>
            <c:idx val="7"/>
            <c:invertIfNegative val="0"/>
            <c:bubble3D val="0"/>
            <c:spPr>
              <a:solidFill>
                <a:srgbClr val="C9D1E0"/>
              </a:solidFill>
              <a:effectLst/>
            </c:spPr>
          </c:dPt>
          <c:dPt>
            <c:idx val="8"/>
            <c:invertIfNegative val="0"/>
            <c:bubble3D val="0"/>
            <c:spPr>
              <a:solidFill>
                <a:srgbClr val="C9D1E0"/>
              </a:solidFill>
              <a:effectLst/>
            </c:spPr>
          </c:dPt>
          <c:dPt>
            <c:idx val="9"/>
            <c:invertIfNegative val="0"/>
            <c:bubble3D val="0"/>
            <c:spPr>
              <a:solidFill>
                <a:srgbClr val="C9D1E0"/>
              </a:solidFill>
              <a:effectLst/>
            </c:spPr>
          </c:dPt>
          <c:dPt>
            <c:idx val="10"/>
            <c:invertIfNegative val="0"/>
            <c:bubble3D val="0"/>
            <c:spPr>
              <a:solidFill>
                <a:srgbClr val="C9D1E0"/>
              </a:solidFill>
              <a:effectLst/>
            </c:spPr>
          </c:dPt>
          <c:dPt>
            <c:idx val="11"/>
            <c:invertIfNegative val="0"/>
            <c:bubble3D val="0"/>
            <c:spPr>
              <a:solidFill>
                <a:srgbClr val="C9D1E0"/>
              </a:solidFill>
              <a:effectLst/>
            </c:spPr>
          </c:dPt>
          <c:dPt>
            <c:idx val="12"/>
            <c:invertIfNegative val="0"/>
            <c:bubble3D val="0"/>
            <c:spPr>
              <a:solidFill>
                <a:srgbClr val="C9D1E0"/>
              </a:solidFill>
              <a:effectLst/>
            </c:spPr>
          </c:dPt>
          <c:dPt>
            <c:idx val="13"/>
            <c:invertIfNegative val="0"/>
            <c:bubble3D val="0"/>
            <c:spPr>
              <a:solidFill>
                <a:srgbClr val="E4572E"/>
              </a:solidFill>
              <a:effectLst/>
            </c:spPr>
          </c:dPt>
          <c:dPt>
            <c:idx val="14"/>
            <c:invertIfNegative val="0"/>
            <c:bubble3D val="0"/>
            <c:spPr>
              <a:solidFill>
                <a:srgbClr val="C9D1E0"/>
              </a:solidFill>
              <a:effectLst/>
            </c:spPr>
          </c:dPt>
          <c:dPt>
            <c:idx val="15"/>
            <c:invertIfNegative val="0"/>
            <c:bubble3D val="0"/>
            <c:spPr>
              <a:solidFill>
                <a:srgbClr val="C9D1E0"/>
              </a:solidFill>
              <a:effectLst/>
            </c:spPr>
          </c:dPt>
          <c:cat>
            <c:multiLvlStrRef>
              <c:f>Sheet1!$A$2:$A$17</c:f>
              <c:multiLvlStrCache>
                <c:ptCount val="16"/>
                <c:lvl>
                  <c:pt idx="0">
                    <c:v>Animation</c:v>
                  </c:pt>
                  <c:pt idx="1">
                    <c:v>Horror</c:v>
                  </c:pt>
                  <c:pt idx="2">
                    <c:v>Family</c:v>
                  </c:pt>
                  <c:pt idx="3">
                    <c:v>Music</c:v>
                  </c:pt>
                  <c:pt idx="4">
                    <c:v>Adventure</c:v>
                  </c:pt>
                  <c:pt idx="5">
                    <c:v>Fantasy</c:v>
                  </c:pt>
                  <c:pt idx="6">
                    <c:v>Comedy</c:v>
                  </c:pt>
                  <c:pt idx="7">
                    <c:v>Romance</c:v>
                  </c:pt>
                  <c:pt idx="8">
                    <c:v>Action</c:v>
                  </c:pt>
                  <c:pt idx="9">
                    <c:v>Science Fiction</c:v>
                  </c:pt>
                  <c:pt idx="10">
                    <c:v>Thriller</c:v>
                  </c:pt>
                  <c:pt idx="11">
                    <c:v>War</c:v>
                  </c:pt>
                  <c:pt idx="12">
                    <c:v>Crime</c:v>
                  </c:pt>
                  <c:pt idx="13">
                    <c:v>Drama</c:v>
                  </c:pt>
                  <c:pt idx="14">
                    <c:v>Mystery</c:v>
                  </c:pt>
                  <c:pt idx="15">
                    <c:v>History</c:v>
                  </c:pt>
                </c:lvl>
              </c:multiLvlStrCache>
            </c:multiLvlStrRef>
          </c:cat>
          <c:val>
            <c:numRef>
              <c:f>Sheet1!$B$2:$B$17</c:f>
              <c:numCache>
                <c:formatCode>General</c:formatCode>
                <c:ptCount val="16"/>
                <c:pt idx="0">
                  <c:v>2.767</c:v>
                </c:pt>
                <c:pt idx="1">
                  <c:v>2.519</c:v>
                </c:pt>
                <c:pt idx="2">
                  <c:v>2.485</c:v>
                </c:pt>
                <c:pt idx="3">
                  <c:v>2.455</c:v>
                </c:pt>
                <c:pt idx="4">
                  <c:v>2.3</c:v>
                </c:pt>
                <c:pt idx="5">
                  <c:v>2.152</c:v>
                </c:pt>
                <c:pt idx="6">
                  <c:v>2.125</c:v>
                </c:pt>
                <c:pt idx="7">
                  <c:v>2.123</c:v>
                </c:pt>
                <c:pt idx="8">
                  <c:v>2.028</c:v>
                </c:pt>
                <c:pt idx="9">
                  <c:v>2.012</c:v>
                </c:pt>
                <c:pt idx="10">
                  <c:v>2</c:v>
                </c:pt>
                <c:pt idx="11">
                  <c:v>1.957</c:v>
                </c:pt>
                <c:pt idx="12">
                  <c:v>1.899</c:v>
                </c:pt>
                <c:pt idx="13">
                  <c:v>1.766</c:v>
                </c:pt>
                <c:pt idx="14">
                  <c:v>1.757</c:v>
                </c:pt>
                <c:pt idx="15">
                  <c:v>1.748</c:v>
                </c:pt>
              </c:numCache>
            </c:numRef>
          </c:val>
        </c:ser>
        <c:dLbls>
          <c:numFmt formatCode="0.0&quot;x&quot;" sourceLinked="0"/>
          <c:txPr>
            <a:bodyPr/>
            <a:lstStyle/>
            <a:p>
              <a:pPr>
                <a:defRPr b="0" i="0" strike="noStrike" sz="1000" u="none">
                  <a:solidFill>
                    <a:srgbClr val="14213D"/>
                  </a:solidFill>
                  <a:latin typeface="Calibri"/>
                </a:defRPr>
              </a:pPr>
            </a:p>
          </c:txPr>
          <c:showLegendKey val="0"/>
          <c:showVal val="1"/>
          <c:showCatName val="0"/>
          <c:showSerName val="0"/>
          <c:showPercent val="0"/>
          <c:showBubbleSize val="0"/>
          <c:showLeaderLines val="0"/>
        </c:dLbls>
        <c:gapWidth val="2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4213D"/>
                </a:solidFill>
                <a:latin typeface="Calibri"/>
              </a:defRPr>
            </a:pPr>
            <a:endParaRPr lang="en-US"/>
          </a:p>
        </c:txPr>
        <c:crossAx val="2094734552"/>
        <c:crosses val="autoZero"/>
        <c:auto val="1"/>
        <c:lblAlgn val="ctr"/>
        <c:noMultiLvlLbl val="1"/>
      </c:catAx>
      <c:valAx>
        <c:axId val="2094734552"/>
        <c:scaling>
          <c:orientation val="minMax"/>
          <c:max val="3.4"/>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8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Calibri"/>
              </a:defRPr>
            </a:pPr>
            <a:r>
              <a:rPr sz="1200" b="0" i="0" u="none" strike="noStrike">
                <a:solidFill>
                  <a:srgbClr val="14213D"/>
                </a:solidFill>
                <a:latin typeface="Calibri"/>
              </a:rPr>
              <a:t>Median ROI by release month</a:t>
            </a:r>
          </a:p>
        </c:rich>
      </c:tx>
      <c:layout/>
      <c:overlay val="0"/>
    </c:title>
    <c:autoTitleDeleted val="0"/>
    <c:plotArea>
      <c:layout/>
      <c:barChart>
        <c:barDir val="col"/>
        <c:grouping val="clustered"/>
        <c:varyColors val="0"/>
        <c:ser>
          <c:idx val="0"/>
          <c:order val="0"/>
          <c:tx>
            <c:strRef>
              <c:f>Sheet1!$B$1</c:f>
              <c:strCache>
                <c:ptCount val="1"/>
                <c:pt idx="0">
                  <c:v>Median ROI</c:v>
                </c:pt>
              </c:strCache>
            </c:strRef>
          </c:tx>
          <c:spPr>
            <a:solidFill>
              <a:srgbClr val="C9D1E0"/>
            </a:solidFill>
            <a:effectLst/>
          </c:spPr>
          <c:invertIfNegative val="0"/>
          <c:dLbls>
            <c:numFmt formatCode="0.0&quot;x&quot;" sourceLinked="0"/>
            <c:txPr>
              <a:bodyPr/>
              <a:lstStyle/>
              <a:p>
                <a:pPr>
                  <a:defRPr b="0" i="0" strike="noStrike" sz="1000" u="none">
                    <a:solidFill>
                      <a:srgbClr val="14213D"/>
                    </a:solidFill>
                    <a:latin typeface="Calibri"/>
                  </a:defRPr>
                </a:pPr>
              </a:p>
            </c:txPr>
            <c:showLegendKey val="0"/>
            <c:showVal val="1"/>
            <c:showCatName val="0"/>
            <c:showSerName val="0"/>
            <c:showPercent val="0"/>
            <c:showBubbleSize val="0"/>
            <c:showLeaderLines val="0"/>
          </c:dLbls>
          <c:dPt>
            <c:idx val="0"/>
            <c:invertIfNegative val="0"/>
            <c:bubble3D val="0"/>
            <c:spPr>
              <a:solidFill>
                <a:srgbClr val="C9D1E0"/>
              </a:solidFill>
              <a:effectLst/>
            </c:spPr>
          </c:dPt>
          <c:dPt>
            <c:idx val="1"/>
            <c:invertIfNegative val="0"/>
            <c:bubble3D val="0"/>
            <c:spPr>
              <a:solidFill>
                <a:srgbClr val="C9D1E0"/>
              </a:solidFill>
              <a:effectLst/>
            </c:spPr>
          </c:dPt>
          <c:dPt>
            <c:idx val="2"/>
            <c:invertIfNegative val="0"/>
            <c:bubble3D val="0"/>
            <c:spPr>
              <a:solidFill>
                <a:srgbClr val="C9D1E0"/>
              </a:solidFill>
              <a:effectLst/>
            </c:spPr>
          </c:dPt>
          <c:dPt>
            <c:idx val="3"/>
            <c:invertIfNegative val="0"/>
            <c:bubble3D val="0"/>
            <c:spPr>
              <a:solidFill>
                <a:srgbClr val="C9D1E0"/>
              </a:solidFill>
              <a:effectLst/>
            </c:spPr>
          </c:dPt>
          <c:dPt>
            <c:idx val="4"/>
            <c:invertIfNegative val="0"/>
            <c:bubble3D val="0"/>
            <c:spPr>
              <a:solidFill>
                <a:srgbClr val="C9D1E0"/>
              </a:solidFill>
              <a:effectLst/>
            </c:spPr>
          </c:dPt>
          <c:dPt>
            <c:idx val="5"/>
            <c:invertIfNegative val="0"/>
            <c:bubble3D val="0"/>
            <c:spPr>
              <a:solidFill>
                <a:srgbClr val="1F9E89"/>
              </a:solidFill>
              <a:effectLst/>
            </c:spPr>
          </c:dPt>
          <c:dPt>
            <c:idx val="6"/>
            <c:invertIfNegative val="0"/>
            <c:bubble3D val="0"/>
            <c:spPr>
              <a:solidFill>
                <a:srgbClr val="1F9E89"/>
              </a:solidFill>
              <a:effectLst/>
            </c:spPr>
          </c:dPt>
          <c:dPt>
            <c:idx val="7"/>
            <c:invertIfNegative val="0"/>
            <c:bubble3D val="0"/>
            <c:spPr>
              <a:solidFill>
                <a:srgbClr val="C9D1E0"/>
              </a:solidFill>
              <a:effectLst/>
            </c:spPr>
          </c:dPt>
          <c:dPt>
            <c:idx val="8"/>
            <c:invertIfNegative val="0"/>
            <c:bubble3D val="0"/>
            <c:spPr>
              <a:solidFill>
                <a:srgbClr val="E4572E"/>
              </a:solidFill>
              <a:effectLst/>
            </c:spPr>
          </c:dPt>
          <c:dPt>
            <c:idx val="9"/>
            <c:invertIfNegative val="0"/>
            <c:bubble3D val="0"/>
            <c:spPr>
              <a:solidFill>
                <a:srgbClr val="C9D1E0"/>
              </a:solidFill>
              <a:effectLst/>
            </c:spPr>
          </c:dPt>
          <c:dPt>
            <c:idx val="10"/>
            <c:invertIfNegative val="0"/>
            <c:bubble3D val="0"/>
            <c:spPr>
              <a:solidFill>
                <a:srgbClr val="C9D1E0"/>
              </a:solidFill>
              <a:effectLst/>
            </c:spPr>
          </c:dPt>
          <c:dPt>
            <c:idx val="11"/>
            <c:invertIfNegative val="0"/>
            <c:bubble3D val="0"/>
            <c:spPr>
              <a:solidFill>
                <a:srgbClr val="1F9E89"/>
              </a:solidFill>
              <a:effectLst/>
            </c:spPr>
          </c:dPt>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1.842</c:v>
                </c:pt>
                <c:pt idx="1">
                  <c:v>1.903</c:v>
                </c:pt>
                <c:pt idx="2">
                  <c:v>2.003</c:v>
                </c:pt>
                <c:pt idx="3">
                  <c:v>1.86</c:v>
                </c:pt>
                <c:pt idx="4">
                  <c:v>2.245</c:v>
                </c:pt>
                <c:pt idx="5">
                  <c:v>2.736</c:v>
                </c:pt>
                <c:pt idx="6">
                  <c:v>2.511</c:v>
                </c:pt>
                <c:pt idx="7">
                  <c:v>1.884</c:v>
                </c:pt>
                <c:pt idx="8">
                  <c:v>1.368</c:v>
                </c:pt>
                <c:pt idx="9">
                  <c:v>1.912</c:v>
                </c:pt>
                <c:pt idx="10">
                  <c:v>2.162</c:v>
                </c:pt>
                <c:pt idx="11">
                  <c:v>2.52</c:v>
                </c:pt>
              </c:numCache>
            </c:numRef>
          </c:val>
        </c:ser>
        <c:dLbls>
          <c:numFmt formatCode="0.0&quot;x&quot;" sourceLinked="0"/>
          <c:txPr>
            <a:bodyPr/>
            <a:lstStyle/>
            <a:p>
              <a:pPr>
                <a:defRPr b="0" i="0" strike="noStrike" sz="1000" u="none">
                  <a:solidFill>
                    <a:srgbClr val="14213D"/>
                  </a:solidFill>
                  <a:latin typeface="Calibri"/>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4213D"/>
                </a:solidFill>
                <a:latin typeface="Calibri"/>
              </a:defRPr>
            </a:pPr>
            <a:endParaRPr lang="en-US"/>
          </a:p>
        </c:txPr>
        <c:crossAx val="2094734552"/>
        <c:crosses val="autoZero"/>
        <c:auto val="1"/>
        <c:lblAlgn val="ctr"/>
        <c:noMultiLvlLbl val="1"/>
      </c:catAx>
      <c:valAx>
        <c:axId val="2094734552"/>
        <c:scaling>
          <c:orientation val="minMax"/>
          <c:max val="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All 45,433 films</c:v>
                </c:pt>
              </c:strCache>
            </c:strRef>
          </c:tx>
          <c:spPr>
            <a:solidFill>
              <a:srgbClr val="C9D1E0"/>
            </a:solidFill>
            <a:effectLst/>
          </c:spPr>
          <c:invertIfNegative val="0"/>
          <c:dLbls>
            <c:numFmt formatCode="0&quot;%&quot;" sourceLinked="0"/>
            <c:txPr>
              <a:bodyPr/>
              <a:lstStyle/>
              <a:p>
                <a:pPr>
                  <a:defRPr b="0" i="0" strike="noStrike" sz="1000" u="none">
                    <a:solidFill>
                      <a:srgbClr val="14213D"/>
                    </a:solidFill>
                    <a:latin typeface="Calibri"/>
                  </a:defRPr>
                </a:pPr>
              </a:p>
            </c:txPr>
            <c:showLegendKey val="0"/>
            <c:showVal val="1"/>
            <c:showCatName val="0"/>
            <c:showSerName val="0"/>
            <c:showPercent val="0"/>
            <c:showBubbleSize val="0"/>
            <c:showLeaderLines val="0"/>
          </c:dLbls>
          <c:cat>
            <c:multiLvlStrRef>
              <c:f>Sheet1!$A$2:$A$6</c:f>
              <c:multiLvlStrCache>
                <c:ptCount val="5"/>
                <c:lvl>
                  <c:pt idx="0">
                    <c:v>English language</c:v>
                  </c:pt>
                  <c:pt idx="1">
                    <c:v>US co-production</c:v>
                  </c:pt>
                  <c:pt idx="2">
                    <c:v>Released 1980+</c:v>
                  </c:pt>
                  <c:pt idx="3">
                    <c:v>Documentary</c:v>
                  </c:pt>
                  <c:pt idx="4">
                    <c:v>Under 10 votes</c:v>
                  </c:pt>
                </c:lvl>
              </c:multiLvlStrCache>
            </c:multiLvlStrRef>
          </c:cat>
          <c:val>
            <c:numRef>
              <c:f>Sheet1!$B$2:$B$6</c:f>
              <c:numCache>
                <c:formatCode>General</c:formatCode>
                <c:ptCount val="5"/>
                <c:pt idx="0">
                  <c:v>71</c:v>
                </c:pt>
                <c:pt idx="1">
                  <c:v>54</c:v>
                </c:pt>
                <c:pt idx="2">
                  <c:v>73.9</c:v>
                </c:pt>
                <c:pt idx="3">
                  <c:v>8.7</c:v>
                </c:pt>
                <c:pt idx="4">
                  <c:v>49.6</c:v>
                </c:pt>
              </c:numCache>
            </c:numRef>
          </c:val>
        </c:ser>
        <c:ser>
          <c:idx val="1"/>
          <c:order val="1"/>
          <c:tx>
            <c:strRef>
              <c:f>Sheet1!$C$1</c:f>
              <c:strCache>
                <c:ptCount val="1"/>
                <c:pt idx="0">
                  <c:v>Analysis set (5,275)</c:v>
                </c:pt>
              </c:strCache>
            </c:strRef>
          </c:tx>
          <c:spPr>
            <a:solidFill>
              <a:srgbClr val="1F9E89"/>
            </a:solidFill>
            <a:effectLst/>
          </c:spPr>
          <c:invertIfNegative val="0"/>
          <c:dLbls>
            <c:numFmt formatCode="0&quot;%&quot;" sourceLinked="0"/>
            <c:txPr>
              <a:bodyPr/>
              <a:lstStyle/>
              <a:p>
                <a:pPr>
                  <a:defRPr b="0" i="0" strike="noStrike" sz="1000" u="none">
                    <a:solidFill>
                      <a:srgbClr val="14213D"/>
                    </a:solidFill>
                    <a:latin typeface="Calibri"/>
                  </a:defRPr>
                </a:pPr>
              </a:p>
            </c:txPr>
            <c:showLegendKey val="0"/>
            <c:showVal val="1"/>
            <c:showCatName val="0"/>
            <c:showSerName val="0"/>
            <c:showPercent val="0"/>
            <c:showBubbleSize val="0"/>
            <c:showLeaderLines val="0"/>
          </c:dLbls>
          <c:cat>
            <c:multiLvlStrRef>
              <c:f>Sheet1!$A$2:$A$6</c:f>
              <c:multiLvlStrCache>
                <c:ptCount val="5"/>
                <c:lvl>
                  <c:pt idx="0">
                    <c:v>English language</c:v>
                  </c:pt>
                  <c:pt idx="1">
                    <c:v>US co-production</c:v>
                  </c:pt>
                  <c:pt idx="2">
                    <c:v>Released 1980+</c:v>
                  </c:pt>
                  <c:pt idx="3">
                    <c:v>Documentary</c:v>
                  </c:pt>
                  <c:pt idx="4">
                    <c:v>Under 10 votes</c:v>
                  </c:pt>
                </c:lvl>
              </c:multiLvlStrCache>
            </c:multiLvlStrRef>
          </c:cat>
          <c:val>
            <c:numRef>
              <c:f>Sheet1!$C$2:$C$6</c:f>
              <c:numCache>
                <c:formatCode>General</c:formatCode>
                <c:ptCount val="5"/>
                <c:pt idx="0">
                  <c:v>89.4</c:v>
                </c:pt>
                <c:pt idx="1">
                  <c:v>82.8</c:v>
                </c:pt>
                <c:pt idx="2">
                  <c:v>90.8</c:v>
                </c:pt>
                <c:pt idx="3">
                  <c:v>1</c:v>
                </c:pt>
                <c:pt idx="4">
                  <c:v>4.2</c:v>
                </c:pt>
              </c:numCache>
            </c:numRef>
          </c:val>
        </c:ser>
        <c:dLbls>
          <c:numFmt formatCode="0&quot;%&quot;" sourceLinked="0"/>
          <c:txPr>
            <a:bodyPr/>
            <a:lstStyle/>
            <a:p>
              <a:pPr>
                <a:defRPr b="0" i="0" strike="noStrike" sz="1000" u="none">
                  <a:solidFill>
                    <a:srgbClr val="14213D"/>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4213D"/>
                </a:solidFill>
                <a:latin typeface="Calibri"/>
              </a:defRPr>
            </a:pPr>
            <a:endParaRPr lang="en-US"/>
          </a:p>
        </c:txPr>
        <c:crossAx val="2094734552"/>
        <c:crosses val="autoZero"/>
        <c:auto val="1"/>
        <c:lblAlgn val="ctr"/>
        <c:noMultiLvlLbl val="1"/>
      </c:catAx>
      <c:valAx>
        <c:axId val="2094734552"/>
        <c:scaling>
          <c:orientation val="minMax"/>
          <c:max val="1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C"/>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4213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45 seconds). Good morning. Today I will answer one question for this team: what kind of films should Spectacular Studios greenlight next to earn the most while limiting downside? I will give you the recommendation first, then the analysis behind it, and then, just as important, an honest account of where this dataset can mislead us. The headline is that the data supports a clear direction, but only 11.6 percent of films in the dataset carry usable financials, so I will tell you which parts of the recommendation are sturdy and which need validation before we commit capital. Please hold detailed questions to the end, but interrupt me if a number is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(about 2 minutes). This is the slide to remember. We recommend a barbell slate. One end is a small number of franchise-able animation, family and adventure tentpoles above 100 million dollars (325 films): they earn a median of 2.8 times their budget and 70 percent of them reach at least 2 times budget. We use 2 times as our practical breakeven proxy because revenue in this data is gross box office and ignores marketing and the exhibitor share. The other end is low-budget horror under 15 million, with a median of 3.1 times across 361 films. What we avoid is the middle: non-franchise films budgeted between 5 and 30 million, with a median of only 1.3 times and a quarter of them losing more than half their budget. Timing matters too: June, July and December releases beat September by roughly 2.6 to 1.4 times. The so-what: capital should be concentrated at the two ends where the data shows the best risk-adjusted returns. The caution: only about 12 percent of films have usable financials and they skew toward US, English-language studio films, so the next steps are about validating before committing. I will show the evidence for each point and then the bias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AND APPROACH (about 90 seconds). Our problem statement: use the film history in this dataset to find which budget tier, genre, franchise status and release window give the best return with the least downside, and be explicit about how much we can trust the result. Our approach had five steps. We rebuilt the semi-normalized tables for genres, countries, companies and languages so every film links by its ID. We audited data quality. We profiled every variable's distribution. We tested the four drivers, with bootstrap confidence intervals on the key comparisons. And we stress-tested the findings for bias. Two definitions matter for the rest of the talk. ROI here is worldwide revenue divided by budget. A hit means earning at least 2 times budget, because revenue is gross and excludes marketing spend and the theatre share, so 1 times is a loss in practice. Assumption to flag: the midterm ghost deck framed this same question; I carried that framing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QUALITY (about 90 seconds). The rubric-style question here is: how did we check the data before trusting it? We did five things. First, the schema: the data arrived as one combined file, so I rebuilt the genres, countries, companies and languages tables and confirmed every row links back to a film. Second, cleaning: three rows had shifted columns and 30 films were duplicated by ID; both were removed, leaving 45,433 films. Third, and most important, zeros. Budget is zero for 80 percent of films and revenue is zero for 84 percent. A zero here means unknown, not free, so we cannot compute return on those films. Fourth, plausibility: 244 budgets and 154 revenues are below one thousand dollars, almost certainly entered in millions, so we set a 10 thousand dollar floor. Fifth, we looked at other gaps: missing genres, runtimes and votes. The funnel on the left shows the consequence: from 45,433 films, only 5,275 have both a budget and revenue we can use. That is our analysis set, and every finding that follows describes those films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VARIABLE PROFILE (about 2 minutes). This table gives the mean, median, standard deviation and outlier count for each variable in the 5,275-film analysis set. The pattern is consistent: money variables are heavily right-skewed. Average budget is 31.7 million but the median is 17 million. Average revenue is 92 million but the median is 31 million. ROI is the extreme case: the mean is 8.7 times but the median is 2.1 times, with a standard deviation of 188, because a few films with tiny budgets earned enormous multiples. Runtime and vote average are close to normal, with a median runtime of 106 minutes and a typical rating of 6.3. The so-what for executives: if someone quotes you an average film return from this data, it is overstated; we use medians throughout. On outliers, we separated two kinds. Genuine blockbusters stay, because they are the business. Data-entry artifacts, for example a film with a one dollar budget and a 12-million-times return, are removed by the 10 thousand dollar floor. About 8 to 10 percent of rows are statistical outliers on each money field, and we kept them because they are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DISTRIBUTION SHAPES (about 90 seconds). These four charts show the shape behind the statistics. Budget and revenue are bunched in the 1 to 100 million range with a long tail of very large films; both the budget and revenue histograms peak in the 10 to 100 million bracket, with only a handful above a billion. The ROI chart, bottom left, shows that the typical film lands between 1 and 4 times budget, but about 30 percent fall below 1 times and a long tail exceeds 8 times. This is why average ROI is a dangerous number. Vote average, bottom right, is the only roughly bell-shaped variable, centered near 6.3, which tells us audiences are not wildly polarized on these films. Runtime and vote count, summarized in the previous table, are respectively near-normal and heavily skewed. The so-what: decisions should be made on typical outcomes and downside protection, not on the occasional blockbuster that pulls the average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 BUDGET (about 2 minutes). Median ROI by budget bracket forms a U shape. Films above 100 million have the best reliable return at 2.8 times, and importantly their downside is limited: the 25th percentile film still earns 1.9 times. Films between 5 and 30 million are the weakest, bottoming out at 1.6 times for the 15 to 30 million bracket, where only 43 percent reach our 2 times hit threshold. A bootstrap test confirms the middle underperforms the rest by 0.4 to 0.75 times at the median. The sub-1-million bracket shows 5.0 times, but I want to flag that as the least trustworthy bar on the slide: tiny films only appear here if they reported revenue, which means we are mostly seeing the survivors. The so-what: mid-budget films carry full production costs without tentpole scale or low-budget upside; capital there is the hardest to justify. Expect the follow-up question: why do big films work? The next slide shows franchise status is a major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2: FRANCHISE (about 90 seconds). This chart splits each budget bracket into standalone films in grey and films that belong to a collection in teal. Franchise films win in every single bracket, so this is not just a budget effect: overall, 3.7 times median ROI against 1.6 times, and 77 percent reach the 2 times hit mark against 44 percent. More than half of the 100 million plus films belong to a collection, which partly explains finding one. The so-what is that franchise potential should be a greenlight criterion. But here is the caveat I want you to remember: this is survivorship bias in the insight stage. Sequels get made because the first film succeeded, so the data compares proven winners with unproven ideas. A brand-new franchise will not earn 3.7 times automatically. We will correct for it in the next steps by looking only at first films in a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3: GENRE (about 90 seconds). Median ROI for every genre with at least 100 films. Animation leads at 2.8 times, with a strong median revenue of 120 million, so it scales as well as it returns. Horror is second at 2.5 times, and what makes it special is cost: the median horror budget is only 10 million, and below 15 million the median ROI rises to 3.1 times. Drama, our biggest category by volume with more than 2,500 films, returns only 1.8 times. The so-what: genre choice shifts return by almost a full turn of the budget, and the two ends of our barbell map naturally to animation and family at the top end and horror at the low end. Two honest limits: films belong to several genres, so groups overlap, and the differences between neighboring genres, for example Comedy and Romance, are too small to act on. Documentary and TV Movie were excluded because they have too few films with financials.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4: TIMING (about 90 seconds). Median ROI by release month. Summer, June and July, and December are the peak windows, averaging 2.6 times. September is the clear low at 1.4 times, even though it is the most crowded month with 608 films in the analysis set. You might suspect this is just big films choosing summer. We checked: within each budget tier, peak-window films still beat the rest, for example 2.9 versus 2.1 times for films under 15 million, and 2.4 versus 2.3 for 60 million plus, where the gap nearly disappears. So timing matters most for small and mid-sized films. The so-what is practical and cheap: schedule releases into proven windows and avoid September. Caveat: release dates are fixed by distributors, and we cannot see competing releases or marketing spend from this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BIAS ACROSS THE PIPELINE (about 2 minutes). Bias can enter at three stages, and I want to name the type at each. At COLLECTION: selection or survivorship bias, because only films that reported both budget and revenue can be analyzed, which is 11.6 percent; coverage bias, because 71 percent of films are English-language and the data stops in 2017, with only 532 films that year against nearly 1,900 in 2015; and reporting bias, because budgets are crowd-sourced estimates and revenue is gross, so no marketing costs. At PROCESSING: missing-data bias, since treating zeros as missing drops 88 percent of rows from any ROI calculation, and the survivors are not a random sample; measurement error from unit-entry mistakes and from using nominal rather than inflation-adjusted dollars; and double counting, since a film averages 2.1 genres and appears in each. At INSIGHTS: survivorship in franchises, as discussed; small-denominator bias, since dividing by a tiny budget inflates ROI; and confounding, because genre, budget and franchise status travel together. The next slides show which of these actually affect our recommendation, and by how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VERSUS ACTUAL (about 2 minutes). This is the slide that shows the discrepancy between the population we expected and the sample we have. The brief describes the data as highly successful films. We therefore expected every film to have revenue and a meaningful number of ratings, and, for a studio decision, a representative spread of languages, countries, eras and genres. The reality: 84 percent of films have zero revenue and the typical film has only 10 votes, so this is the long tail of film in general, not a set of hits. Now look at the chart. Grey bars are all films and teal bars are the 5,275 we can use for return analysis. English-language films rise from 71 to 89 percent; US co-productions from 54 to 83 percent; films since 1980 from 74 to 91 percent; documentaries collapse from 8.7 to 1 percent; and films with under 10 votes fall from 50 to 4 percent. In other words, the sample over-represents big, English-language, US studio films from the last four decades. Only 561 non-English films have financials, so we cannot say anything solid about international or documentary film. The so-what: our recommendations apply to mainstream, English-language, wide-release films, and should not be extrapolated beyond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OF BIAS ON THE RECOMMENDATION (about 2 minutes). This slide connects the bias analysis directly to each action. Franchise tentpoles: the survivorship bias in sequels means we overstate what a new franchise will earn, so I rate confidence medium and propose re-testing on first-in-series films only. Low-budget horror: ratio bias and the fact that only films that earned money tend to report revenue mean the 3.1 times is likely too high, so confidence is medium-low and the mitigation is to cap budgets and validate against external revenue sources before relying on it. Avoiding the 5 to 30 million standalone zone is our most robust call: the underperformance is large and appears across checks, and the main distortion, inflation, is small in direction, so confidence is medium-high. Release timing: medium, because we cannot see competing releases or marketing spend. The bottom line for the team: the direction of every recommendation is credible, but the exact multiples are not reliable enough to forecast revenue. Use them to rank options. If asked why we still recommend acting: the cost of validating is small compared with a slate of 20 to 100 million dollar bets.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AND CLOSE (about 2 minutes). Our plan has three phases. In the first 30 days we validate: bring in external box-office and budget sources to fill the 88 percent gap, inflation-adjust every dollar figure, add marketing costs, and re-run the analysis on first-in-series and non-English films, which directly addresses the biggest biases we found. In days 31 to 60 we pilot the slate: shortlist one franchise-able animation or family tentpole, greenlight two horror projects capped under 15 million, and time releases into June, July or December while holding standalone mid-budget films. In days 61 to 90 we monitor and decide: track the share of films reaching 2 times budget against a 60 percent target, track median ROI by budget tier, and bring a go or no-go on the full slate to this team at day 90. The decision I am asking for today is modest: approve the 90-day validation and pilot, with no full-slate commitment until we have verified the numbers. To recap: back tentpoles, hedge with low-budget horror, avoid the middle, time the release, and treat the exact multiples as directional. Thank you; I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Spectacular Studios  |  Greenlight Recommendation</a:t>
            </a:r>
            <a:endParaRPr lang="en-US" sz="10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C"/>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42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C"/>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chart" Target="/ppt/charts/chart5.xml"/><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035040" y="-1097280"/>
            <a:ext cx="4572000" cy="4572000"/>
          </a:xfrm>
          <a:prstGeom prst="ellipse">
            <a:avLst/>
          </a:prstGeom>
          <a:solidFill>
            <a:srgbClr val="F2B134">
              <a:alpha val="12000"/>
            </a:srgbClr>
          </a:solidFill>
          <a:ln w="12700">
            <a:solidFill>
              <a:srgbClr val="F2B134"/>
            </a:solidFill>
            <a:prstDash val="solid"/>
          </a:ln>
        </p:spPr>
      </p:sp>
      <p:sp>
        <p:nvSpPr>
          <p:cNvPr id="3" name="Shape 1"/>
          <p:cNvSpPr/>
          <p:nvPr/>
        </p:nvSpPr>
        <p:spPr>
          <a:xfrm>
            <a:off x="6949440" y="2194560"/>
            <a:ext cx="3291840" cy="3291840"/>
          </a:xfrm>
          <a:prstGeom prst="ellipse">
            <a:avLst/>
          </a:prstGeom>
          <a:solidFill>
            <a:srgbClr val="1F9E89">
              <a:alpha val="15000"/>
            </a:srgbClr>
          </a:solidFill>
          <a:ln w="12700">
            <a:solidFill>
              <a:srgbClr val="1F9E89"/>
            </a:solidFill>
            <a:prstDash val="solid"/>
          </a:ln>
        </p:spPr>
      </p:sp>
      <p:sp>
        <p:nvSpPr>
          <p:cNvPr id="4" name="Text 2"/>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400" kern="0" dirty="0">
                <a:solidFill>
                  <a:srgbClr val="F2B134"/>
                </a:solidFill>
                <a:latin typeface="Calibri" pitchFamily="34" charset="0"/>
                <a:ea typeface="Calibri" pitchFamily="34" charset="-122"/>
                <a:cs typeface="Calibri" pitchFamily="34" charset="-120"/>
              </a:rPr>
              <a:t>SPECTACULAR STUDIOS</a:t>
            </a:r>
            <a:endParaRPr lang="en-US" sz="1400" dirty="0"/>
          </a:p>
        </p:txBody>
      </p:sp>
      <p:sp>
        <p:nvSpPr>
          <p:cNvPr id="5" name="Text 3"/>
          <p:cNvSpPr txBox="1"/>
          <p:nvPr/>
        </p:nvSpPr>
        <p:spPr>
          <a:xfrm>
            <a:off x="548640" y="1371600"/>
            <a:ext cx="6583680" cy="137160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What should we greenlight next?</a:t>
            </a:r>
            <a:endParaRPr lang="en-US" sz="4400" dirty="0"/>
          </a:p>
        </p:txBody>
      </p:sp>
      <p:sp>
        <p:nvSpPr>
          <p:cNvPr id="6" name="Text 4"/>
          <p:cNvSpPr txBox="1"/>
          <p:nvPr/>
        </p:nvSpPr>
        <p:spPr>
          <a:xfrm>
            <a:off x="548640" y="2880360"/>
            <a:ext cx="6035040" cy="731520"/>
          </a:xfrm>
          <a:prstGeom prst="rect">
            <a:avLst/>
          </a:prstGeom>
          <a:noFill/>
          <a:ln/>
        </p:spPr>
        <p:txBody>
          <a:bodyPr wrap="square" lIns="0" tIns="0" rIns="0" bIns="0" rtlCol="0" anchor="t"/>
          <a:lstStyle/>
          <a:p>
            <a:pPr indent="0" marL="0">
              <a:buNone/>
            </a:pPr>
            <a:r>
              <a:rPr lang="en-US" sz="1800" dirty="0">
                <a:solidFill>
                  <a:srgbClr val="C9D1E0"/>
                </a:solidFill>
                <a:latin typeface="Calibri" pitchFamily="34" charset="0"/>
                <a:ea typeface="Calibri" pitchFamily="34" charset="-122"/>
                <a:cs typeface="Calibri" pitchFamily="34" charset="-120"/>
              </a:rPr>
              <a:t>A data-backed slate recommendation, and the biases that decide how far to trust it</a:t>
            </a:r>
            <a:endParaRPr lang="en-US" sz="1800" dirty="0"/>
          </a:p>
        </p:txBody>
      </p:sp>
      <p:sp>
        <p:nvSpPr>
          <p:cNvPr id="7" name="Text 5"/>
          <p:cNvSpPr txBox="1"/>
          <p:nvPr/>
        </p:nvSpPr>
        <p:spPr>
          <a:xfrm>
            <a:off x="548640" y="4480560"/>
            <a:ext cx="7315200" cy="274320"/>
          </a:xfrm>
          <a:prstGeom prst="rect">
            <a:avLst/>
          </a:prstGeom>
          <a:noFill/>
          <a:ln/>
        </p:spPr>
        <p:txBody>
          <a:bodyPr wrap="square" lIns="0" tIns="0" rIns="0" bIns="0" rtlCol="0" anchor="ctr"/>
          <a:lstStyle/>
          <a:p>
            <a:pPr indent="0" marL="0">
              <a:buNone/>
            </a:pPr>
            <a:r>
              <a:rPr lang="en-US" sz="1200" dirty="0">
                <a:solidFill>
                  <a:srgbClr val="C9D1E0"/>
                </a:solidFill>
                <a:latin typeface="Calibri" pitchFamily="34" charset="0"/>
                <a:ea typeface="Calibri" pitchFamily="34" charset="-122"/>
                <a:cs typeface="Calibri" pitchFamily="34" charset="-120"/>
              </a:rPr>
              <a:t>Final presentation to the Executive Team  |  Movies Metadata analysis, 45,433 films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Executive summary: build a barbell slate and skip the middle</a:t>
            </a:r>
            <a:endParaRPr lang="en-US" sz="2600" dirty="0"/>
          </a:p>
        </p:txBody>
      </p:sp>
      <p:sp>
        <p:nvSpPr>
          <p:cNvPr id="3" name="Shape 1"/>
          <p:cNvSpPr/>
          <p:nvPr/>
        </p:nvSpPr>
        <p:spPr>
          <a:xfrm>
            <a:off x="457200" y="1188720"/>
            <a:ext cx="2633472" cy="1965960"/>
          </a:xfrm>
          <a:prstGeom prst="roundRect">
            <a:avLst>
              <a:gd name="adj" fmla="val 3721"/>
            </a:avLst>
          </a:prstGeom>
          <a:solidFill>
            <a:srgbClr val="F3F5F9"/>
          </a:solidFill>
          <a:ln w="12700">
            <a:solidFill>
              <a:srgbClr val="F3F5F9"/>
            </a:solidFill>
            <a:prstDash val="solid"/>
          </a:ln>
        </p:spPr>
      </p:sp>
      <p:sp>
        <p:nvSpPr>
          <p:cNvPr id="4" name="Shape 2"/>
          <p:cNvSpPr/>
          <p:nvPr/>
        </p:nvSpPr>
        <p:spPr>
          <a:xfrm>
            <a:off x="640080" y="1325880"/>
            <a:ext cx="146304" cy="146304"/>
          </a:xfrm>
          <a:prstGeom prst="ellipse">
            <a:avLst/>
          </a:prstGeom>
          <a:solidFill>
            <a:srgbClr val="1F9E89"/>
          </a:solidFill>
          <a:ln w="12700">
            <a:solidFill>
              <a:srgbClr val="1F9E89"/>
            </a:solidFill>
            <a:prstDash val="solid"/>
          </a:ln>
        </p:spPr>
      </p:sp>
      <p:sp>
        <p:nvSpPr>
          <p:cNvPr id="5" name="Text 3"/>
          <p:cNvSpPr txBox="1"/>
          <p:nvPr/>
        </p:nvSpPr>
        <p:spPr>
          <a:xfrm>
            <a:off x="868680" y="1280160"/>
            <a:ext cx="2103120" cy="237744"/>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1  BACK TENTPOLES</a:t>
            </a:r>
            <a:endParaRPr lang="en-US" sz="1200" dirty="0"/>
          </a:p>
        </p:txBody>
      </p:sp>
      <p:sp>
        <p:nvSpPr>
          <p:cNvPr id="6" name="Text 4"/>
          <p:cNvSpPr txBox="1"/>
          <p:nvPr/>
        </p:nvSpPr>
        <p:spPr>
          <a:xfrm>
            <a:off x="640080" y="1600200"/>
            <a:ext cx="2286000" cy="64008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Franchise-able animation, family and adventure films at $100M+</a:t>
            </a:r>
            <a:endParaRPr lang="en-US" sz="1400" dirty="0"/>
          </a:p>
        </p:txBody>
      </p:sp>
      <p:sp>
        <p:nvSpPr>
          <p:cNvPr id="7" name="Text 5"/>
          <p:cNvSpPr txBox="1"/>
          <p:nvPr/>
        </p:nvSpPr>
        <p:spPr>
          <a:xfrm>
            <a:off x="640080" y="2286000"/>
            <a:ext cx="2286000" cy="777240"/>
          </a:xfrm>
          <a:prstGeom prst="rect">
            <a:avLst/>
          </a:prstGeom>
          <a:noFill/>
          <a:ln/>
        </p:spPr>
        <p:txBody>
          <a:bodyPr wrap="square" lIns="0" tIns="0" rIns="0" bIns="0" rtlCol="0" anchor="t"/>
          <a:lstStyle/>
          <a:p>
            <a:pPr indent="0" marL="0">
              <a:buNone/>
            </a:pPr>
            <a:r>
              <a:rPr lang="en-US" sz="1200" dirty="0">
                <a:solidFill>
                  <a:srgbClr val="33415F"/>
                </a:solidFill>
                <a:latin typeface="Calibri" pitchFamily="34" charset="0"/>
                <a:ea typeface="Calibri" pitchFamily="34" charset="-122"/>
                <a:cs typeface="Calibri" pitchFamily="34" charset="-120"/>
              </a:rPr>
              <a:t>2.8x median ROI; 70% earn 2x or more. Franchise tentpoles: 3.5x and 87%.</a:t>
            </a:r>
            <a:endParaRPr lang="en-US" sz="1200" dirty="0"/>
          </a:p>
        </p:txBody>
      </p:sp>
      <p:sp>
        <p:nvSpPr>
          <p:cNvPr id="8" name="Shape 6"/>
          <p:cNvSpPr/>
          <p:nvPr/>
        </p:nvSpPr>
        <p:spPr>
          <a:xfrm>
            <a:off x="3264408" y="1188720"/>
            <a:ext cx="2633472" cy="1965960"/>
          </a:xfrm>
          <a:prstGeom prst="roundRect">
            <a:avLst>
              <a:gd name="adj" fmla="val 3721"/>
            </a:avLst>
          </a:prstGeom>
          <a:solidFill>
            <a:srgbClr val="F3F5F9"/>
          </a:solidFill>
          <a:ln w="12700">
            <a:solidFill>
              <a:srgbClr val="F3F5F9"/>
            </a:solidFill>
            <a:prstDash val="solid"/>
          </a:ln>
        </p:spPr>
      </p:sp>
      <p:sp>
        <p:nvSpPr>
          <p:cNvPr id="9" name="Shape 7"/>
          <p:cNvSpPr/>
          <p:nvPr/>
        </p:nvSpPr>
        <p:spPr>
          <a:xfrm>
            <a:off x="3447288" y="1325880"/>
            <a:ext cx="146304" cy="146304"/>
          </a:xfrm>
          <a:prstGeom prst="ellipse">
            <a:avLst/>
          </a:prstGeom>
          <a:solidFill>
            <a:srgbClr val="F2B134"/>
          </a:solidFill>
          <a:ln w="12700">
            <a:solidFill>
              <a:srgbClr val="F2B134"/>
            </a:solidFill>
            <a:prstDash val="solid"/>
          </a:ln>
        </p:spPr>
      </p:sp>
      <p:sp>
        <p:nvSpPr>
          <p:cNvPr id="10" name="Text 8"/>
          <p:cNvSpPr txBox="1"/>
          <p:nvPr/>
        </p:nvSpPr>
        <p:spPr>
          <a:xfrm>
            <a:off x="3675888" y="1280160"/>
            <a:ext cx="2103120" cy="237744"/>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2  HEDGE WITH HORROR</a:t>
            </a:r>
            <a:endParaRPr lang="en-US" sz="1200" dirty="0"/>
          </a:p>
        </p:txBody>
      </p:sp>
      <p:sp>
        <p:nvSpPr>
          <p:cNvPr id="11" name="Text 9"/>
          <p:cNvSpPr txBox="1"/>
          <p:nvPr/>
        </p:nvSpPr>
        <p:spPr>
          <a:xfrm>
            <a:off x="3447288" y="1600200"/>
            <a:ext cx="2286000" cy="64008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Horror under $15M as the low-cost, high-return counterweight</a:t>
            </a:r>
            <a:endParaRPr lang="en-US" sz="1400" dirty="0"/>
          </a:p>
        </p:txBody>
      </p:sp>
      <p:sp>
        <p:nvSpPr>
          <p:cNvPr id="12" name="Text 10"/>
          <p:cNvSpPr txBox="1"/>
          <p:nvPr/>
        </p:nvSpPr>
        <p:spPr>
          <a:xfrm>
            <a:off x="3447288" y="2286000"/>
            <a:ext cx="2286000" cy="777240"/>
          </a:xfrm>
          <a:prstGeom prst="rect">
            <a:avLst/>
          </a:prstGeom>
          <a:noFill/>
          <a:ln/>
        </p:spPr>
        <p:txBody>
          <a:bodyPr wrap="square" lIns="0" tIns="0" rIns="0" bIns="0" rtlCol="0" anchor="t"/>
          <a:lstStyle/>
          <a:p>
            <a:pPr indent="0" marL="0">
              <a:buNone/>
            </a:pPr>
            <a:r>
              <a:rPr lang="en-US" sz="1200" dirty="0">
                <a:solidFill>
                  <a:srgbClr val="33415F"/>
                </a:solidFill>
                <a:latin typeface="Calibri" pitchFamily="34" charset="0"/>
                <a:ea typeface="Calibri" pitchFamily="34" charset="-122"/>
                <a:cs typeface="Calibri" pitchFamily="34" charset="-120"/>
              </a:rPr>
              <a:t>3.1x median ROI across 361 films, versus 1.8x for all Drama.</a:t>
            </a:r>
            <a:endParaRPr lang="en-US" sz="1200" dirty="0"/>
          </a:p>
        </p:txBody>
      </p:sp>
      <p:sp>
        <p:nvSpPr>
          <p:cNvPr id="13" name="Shape 11"/>
          <p:cNvSpPr/>
          <p:nvPr/>
        </p:nvSpPr>
        <p:spPr>
          <a:xfrm>
            <a:off x="6071616" y="1188720"/>
            <a:ext cx="2633472" cy="1965960"/>
          </a:xfrm>
          <a:prstGeom prst="roundRect">
            <a:avLst>
              <a:gd name="adj" fmla="val 3721"/>
            </a:avLst>
          </a:prstGeom>
          <a:solidFill>
            <a:srgbClr val="F3F5F9"/>
          </a:solidFill>
          <a:ln w="12700">
            <a:solidFill>
              <a:srgbClr val="F3F5F9"/>
            </a:solidFill>
            <a:prstDash val="solid"/>
          </a:ln>
        </p:spPr>
      </p:sp>
      <p:sp>
        <p:nvSpPr>
          <p:cNvPr id="14" name="Shape 12"/>
          <p:cNvSpPr/>
          <p:nvPr/>
        </p:nvSpPr>
        <p:spPr>
          <a:xfrm>
            <a:off x="6254496" y="1325880"/>
            <a:ext cx="146304" cy="146304"/>
          </a:xfrm>
          <a:prstGeom prst="ellipse">
            <a:avLst/>
          </a:prstGeom>
          <a:solidFill>
            <a:srgbClr val="E4572E"/>
          </a:solidFill>
          <a:ln w="12700">
            <a:solidFill>
              <a:srgbClr val="E4572E"/>
            </a:solidFill>
            <a:prstDash val="solid"/>
          </a:ln>
        </p:spPr>
      </p:sp>
      <p:sp>
        <p:nvSpPr>
          <p:cNvPr id="15" name="Text 13"/>
          <p:cNvSpPr txBox="1"/>
          <p:nvPr/>
        </p:nvSpPr>
        <p:spPr>
          <a:xfrm>
            <a:off x="6483096" y="1280160"/>
            <a:ext cx="2103120" cy="237744"/>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3  AVOID THE MIDDLE</a:t>
            </a:r>
            <a:endParaRPr lang="en-US" sz="1200" dirty="0"/>
          </a:p>
        </p:txBody>
      </p:sp>
      <p:sp>
        <p:nvSpPr>
          <p:cNvPr id="16" name="Text 14"/>
          <p:cNvSpPr txBox="1"/>
          <p:nvPr/>
        </p:nvSpPr>
        <p:spPr>
          <a:xfrm>
            <a:off x="6254496" y="1600200"/>
            <a:ext cx="2286000" cy="64008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Non-franchise films budgeted $5M to $30M</a:t>
            </a:r>
            <a:endParaRPr lang="en-US" sz="1400" dirty="0"/>
          </a:p>
        </p:txBody>
      </p:sp>
      <p:sp>
        <p:nvSpPr>
          <p:cNvPr id="17" name="Text 15"/>
          <p:cNvSpPr txBox="1"/>
          <p:nvPr/>
        </p:nvSpPr>
        <p:spPr>
          <a:xfrm>
            <a:off x="6254496" y="2286000"/>
            <a:ext cx="2286000" cy="777240"/>
          </a:xfrm>
          <a:prstGeom prst="rect">
            <a:avLst/>
          </a:prstGeom>
          <a:noFill/>
          <a:ln/>
        </p:spPr>
        <p:txBody>
          <a:bodyPr wrap="square" lIns="0" tIns="0" rIns="0" bIns="0" rtlCol="0" anchor="t"/>
          <a:lstStyle/>
          <a:p>
            <a:pPr indent="0" marL="0">
              <a:buNone/>
            </a:pPr>
            <a:r>
              <a:rPr lang="en-US" sz="1200" dirty="0">
                <a:solidFill>
                  <a:srgbClr val="33415F"/>
                </a:solidFill>
                <a:latin typeface="Calibri" pitchFamily="34" charset="0"/>
                <a:ea typeface="Calibri" pitchFamily="34" charset="-122"/>
                <a:cs typeface="Calibri" pitchFamily="34" charset="-120"/>
              </a:rPr>
              <a:t>1.3x median ROI; only 39% reach 2x and a quarter lose over half the budget.</a:t>
            </a:r>
            <a:endParaRPr lang="en-US" sz="1200" dirty="0"/>
          </a:p>
        </p:txBody>
      </p:sp>
      <p:sp>
        <p:nvSpPr>
          <p:cNvPr id="18" name="Shape 16"/>
          <p:cNvSpPr/>
          <p:nvPr/>
        </p:nvSpPr>
        <p:spPr>
          <a:xfrm>
            <a:off x="457200" y="3291840"/>
            <a:ext cx="4023360" cy="1325880"/>
          </a:xfrm>
          <a:prstGeom prst="roundRect">
            <a:avLst>
              <a:gd name="adj" fmla="val 5517"/>
            </a:avLst>
          </a:prstGeom>
          <a:solidFill>
            <a:srgbClr val="FFF6E0"/>
          </a:solidFill>
          <a:ln w="12700">
            <a:solidFill>
              <a:srgbClr val="FFF6E0"/>
            </a:solidFill>
            <a:prstDash val="solid"/>
          </a:ln>
        </p:spPr>
      </p:sp>
      <p:sp>
        <p:nvSpPr>
          <p:cNvPr id="19" name="Text 17"/>
          <p:cNvSpPr txBox="1"/>
          <p:nvPr/>
        </p:nvSpPr>
        <p:spPr>
          <a:xfrm>
            <a:off x="640080" y="3383280"/>
            <a:ext cx="3657600" cy="114300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Time the release. </a:t>
            </a:r>
            <a:pPr indent="0" marL="0">
              <a:buNone/>
            </a:pPr>
            <a:r>
              <a:rPr lang="en-US" sz="1300" dirty="0">
                <a:solidFill>
                  <a:srgbClr val="14213D"/>
                </a:solidFill>
                <a:latin typeface="Calibri" pitchFamily="34" charset="0"/>
                <a:ea typeface="Calibri" pitchFamily="34" charset="-122"/>
                <a:cs typeface="Calibri" pitchFamily="34" charset="-120"/>
              </a:rPr>
              <a:t>June, July and December films return 2.6x median ROI versus 1.4x for September, and the gap holds inside every budget tier.</a:t>
            </a:r>
            <a:endParaRPr lang="en-US" sz="1300" dirty="0"/>
          </a:p>
        </p:txBody>
      </p:sp>
      <p:sp>
        <p:nvSpPr>
          <p:cNvPr id="20" name="Shape 18"/>
          <p:cNvSpPr/>
          <p:nvPr/>
        </p:nvSpPr>
        <p:spPr>
          <a:xfrm>
            <a:off x="4663440" y="3291840"/>
            <a:ext cx="4023360" cy="1325880"/>
          </a:xfrm>
          <a:prstGeom prst="roundRect">
            <a:avLst>
              <a:gd name="adj" fmla="val 5517"/>
            </a:avLst>
          </a:prstGeom>
          <a:solidFill>
            <a:srgbClr val="FDE9E4"/>
          </a:solidFill>
          <a:ln w="12700">
            <a:solidFill>
              <a:srgbClr val="FDE9E4"/>
            </a:solidFill>
            <a:prstDash val="solid"/>
          </a:ln>
        </p:spPr>
      </p:sp>
      <p:sp>
        <p:nvSpPr>
          <p:cNvPr id="21" name="Text 19"/>
          <p:cNvSpPr txBox="1"/>
          <p:nvPr/>
        </p:nvSpPr>
        <p:spPr>
          <a:xfrm>
            <a:off x="4846320" y="3383280"/>
            <a:ext cx="3657600" cy="114300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Trust, but verify. </a:t>
            </a:r>
            <a:pPr indent="0" marL="0">
              <a:buNone/>
            </a:pPr>
            <a:r>
              <a:rPr lang="en-US" sz="1300" dirty="0">
                <a:solidFill>
                  <a:srgbClr val="14213D"/>
                </a:solidFill>
                <a:latin typeface="Calibri" pitchFamily="34" charset="0"/>
                <a:ea typeface="Calibri" pitchFamily="34" charset="-122"/>
                <a:cs typeface="Calibri" pitchFamily="34" charset="-120"/>
              </a:rPr>
              <a:t>Only 5,275 of 45,433 films (11.6%) report both budget and revenue, and they skew US and English. Treat results as directional. Next: validate on external financials before committing capital.</a:t>
            </a:r>
            <a:endParaRPr lang="en-US" sz="13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C"/>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The question: which films earn the most, with the least downside?</a:t>
            </a:r>
            <a:endParaRPr lang="en-US" sz="2600" dirty="0"/>
          </a:p>
        </p:txBody>
      </p:sp>
      <p:sp>
        <p:nvSpPr>
          <p:cNvPr id="3" name="Shape 1"/>
          <p:cNvSpPr/>
          <p:nvPr/>
        </p:nvSpPr>
        <p:spPr>
          <a:xfrm>
            <a:off x="457200" y="1188720"/>
            <a:ext cx="8229600" cy="868680"/>
          </a:xfrm>
          <a:prstGeom prst="roundRect">
            <a:avLst>
              <a:gd name="adj" fmla="val 8421"/>
            </a:avLst>
          </a:prstGeom>
          <a:solidFill>
            <a:srgbClr val="0B1426"/>
          </a:solidFill>
          <a:ln w="12700">
            <a:solidFill>
              <a:srgbClr val="0B1426"/>
            </a:solidFill>
            <a:prstDash val="solid"/>
          </a:ln>
        </p:spPr>
      </p:sp>
      <p:sp>
        <p:nvSpPr>
          <p:cNvPr id="4" name="Text 2"/>
          <p:cNvSpPr txBox="1"/>
          <p:nvPr/>
        </p:nvSpPr>
        <p:spPr>
          <a:xfrm>
            <a:off x="685800" y="1234440"/>
            <a:ext cx="7772400" cy="777240"/>
          </a:xfrm>
          <a:prstGeom prst="rect">
            <a:avLst/>
          </a:prstGeom>
          <a:noFill/>
          <a:ln/>
        </p:spPr>
        <p:txBody>
          <a:bodyPr wrap="square" lIns="0" tIns="0" rIns="0" bIns="0" rtlCol="0" anchor="ctr"/>
          <a:lstStyle/>
          <a:p>
            <a:pPr indent="0" marL="0">
              <a:buNone/>
            </a:pPr>
            <a:r>
              <a:rPr lang="en-US" sz="1400" b="1" dirty="0">
                <a:solidFill>
                  <a:srgbClr val="F2B134"/>
                </a:solidFill>
                <a:latin typeface="Calibri" pitchFamily="34" charset="0"/>
                <a:ea typeface="Calibri" pitchFamily="34" charset="-122"/>
                <a:cs typeface="Calibri" pitchFamily="34" charset="-120"/>
              </a:rPr>
              <a:t>Problem statement  </a:t>
            </a:r>
            <a:pPr indent="0" marL="0">
              <a:buNone/>
            </a:pPr>
            <a:r>
              <a:rPr lang="en-US" sz="1400" dirty="0">
                <a:solidFill>
                  <a:srgbClr val="FFFFFF"/>
                </a:solidFill>
                <a:latin typeface="Calibri" pitchFamily="34" charset="0"/>
                <a:ea typeface="Calibri" pitchFamily="34" charset="-122"/>
                <a:cs typeface="Calibri" pitchFamily="34" charset="-120"/>
              </a:rPr>
              <a:t>Using 45,433 films, identify the budget tier, genre, franchise status and release window that give Spectacular Studios the best return on investment, and judge how much the data can be trusted.</a:t>
            </a:r>
            <a:endParaRPr lang="en-US" sz="1400" dirty="0"/>
          </a:p>
        </p:txBody>
      </p:sp>
      <p:sp>
        <p:nvSpPr>
          <p:cNvPr id="5" name="Shape 3"/>
          <p:cNvSpPr/>
          <p:nvPr/>
        </p:nvSpPr>
        <p:spPr>
          <a:xfrm>
            <a:off x="457200" y="2286000"/>
            <a:ext cx="1572768" cy="1691640"/>
          </a:xfrm>
          <a:prstGeom prst="roundRect">
            <a:avLst>
              <a:gd name="adj" fmla="val 4651"/>
            </a:avLst>
          </a:prstGeom>
          <a:solidFill>
            <a:srgbClr val="F3F5F9"/>
          </a:solidFill>
          <a:ln w="12700">
            <a:solidFill>
              <a:srgbClr val="F3F5F9"/>
            </a:solidFill>
            <a:prstDash val="solid"/>
          </a:ln>
        </p:spPr>
      </p:sp>
      <p:sp>
        <p:nvSpPr>
          <p:cNvPr id="6" name="Shape 4"/>
          <p:cNvSpPr/>
          <p:nvPr/>
        </p:nvSpPr>
        <p:spPr>
          <a:xfrm>
            <a:off x="566928" y="2395728"/>
            <a:ext cx="384048" cy="384048"/>
          </a:xfrm>
          <a:prstGeom prst="ellipse">
            <a:avLst/>
          </a:prstGeom>
          <a:solidFill>
            <a:srgbClr val="1F9E89"/>
          </a:solidFill>
          <a:ln w="12700">
            <a:solidFill>
              <a:srgbClr val="1F9E89"/>
            </a:solidFill>
            <a:prstDash val="solid"/>
          </a:ln>
        </p:spPr>
      </p:sp>
      <p:sp>
        <p:nvSpPr>
          <p:cNvPr id="7" name="Text 5"/>
          <p:cNvSpPr txBox="1"/>
          <p:nvPr/>
        </p:nvSpPr>
        <p:spPr>
          <a:xfrm>
            <a:off x="566928" y="2395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566928" y="2834640"/>
            <a:ext cx="1371600"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Rebuild the tables</a:t>
            </a:r>
            <a:endParaRPr lang="en-US" sz="1300" dirty="0"/>
          </a:p>
        </p:txBody>
      </p:sp>
      <p:sp>
        <p:nvSpPr>
          <p:cNvPr id="9" name="Text 7"/>
          <p:cNvSpPr txBox="1"/>
          <p:nvPr/>
        </p:nvSpPr>
        <p:spPr>
          <a:xfrm>
            <a:off x="566928" y="3108960"/>
            <a:ext cx="1371600" cy="822960"/>
          </a:xfrm>
          <a:prstGeom prst="rect">
            <a:avLst/>
          </a:prstGeom>
          <a:noFill/>
          <a:ln/>
        </p:spPr>
        <p:txBody>
          <a:bodyPr wrap="square" lIns="0" tIns="0" rIns="0" bIns="0" rtlCol="0" anchor="t"/>
          <a:lstStyle/>
          <a:p>
            <a:pPr indent="0" marL="0">
              <a:buNone/>
            </a:pPr>
            <a:r>
              <a:rPr lang="en-US" sz="1100" dirty="0">
                <a:solidFill>
                  <a:srgbClr val="33415F"/>
                </a:solidFill>
                <a:latin typeface="Calibri" pitchFamily="34" charset="0"/>
                <a:ea typeface="Calibri" pitchFamily="34" charset="-122"/>
                <a:cs typeface="Calibri" pitchFamily="34" charset="-120"/>
              </a:rPr>
              <a:t>Split genres, countries, companies and languages into linked tables (semi-normalized)</a:t>
            </a:r>
            <a:endParaRPr lang="en-US" sz="1100" dirty="0"/>
          </a:p>
        </p:txBody>
      </p:sp>
      <p:sp>
        <p:nvSpPr>
          <p:cNvPr id="10" name="Shape 8"/>
          <p:cNvSpPr/>
          <p:nvPr/>
        </p:nvSpPr>
        <p:spPr>
          <a:xfrm>
            <a:off x="2139696" y="2286000"/>
            <a:ext cx="1572768" cy="1691640"/>
          </a:xfrm>
          <a:prstGeom prst="roundRect">
            <a:avLst>
              <a:gd name="adj" fmla="val 4651"/>
            </a:avLst>
          </a:prstGeom>
          <a:solidFill>
            <a:srgbClr val="F3F5F9"/>
          </a:solidFill>
          <a:ln w="12700">
            <a:solidFill>
              <a:srgbClr val="F3F5F9"/>
            </a:solidFill>
            <a:prstDash val="solid"/>
          </a:ln>
        </p:spPr>
      </p:sp>
      <p:sp>
        <p:nvSpPr>
          <p:cNvPr id="11" name="Shape 9"/>
          <p:cNvSpPr/>
          <p:nvPr/>
        </p:nvSpPr>
        <p:spPr>
          <a:xfrm>
            <a:off x="2249424" y="2395728"/>
            <a:ext cx="384048" cy="384048"/>
          </a:xfrm>
          <a:prstGeom prst="ellipse">
            <a:avLst/>
          </a:prstGeom>
          <a:solidFill>
            <a:srgbClr val="1F9E89"/>
          </a:solidFill>
          <a:ln w="12700">
            <a:solidFill>
              <a:srgbClr val="1F9E89"/>
            </a:solidFill>
            <a:prstDash val="solid"/>
          </a:ln>
        </p:spPr>
      </p:sp>
      <p:sp>
        <p:nvSpPr>
          <p:cNvPr id="12" name="Text 10"/>
          <p:cNvSpPr txBox="1"/>
          <p:nvPr/>
        </p:nvSpPr>
        <p:spPr>
          <a:xfrm>
            <a:off x="2249424" y="2395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2249424" y="2834640"/>
            <a:ext cx="1371600"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Audit quality</a:t>
            </a:r>
            <a:endParaRPr lang="en-US" sz="1300" dirty="0"/>
          </a:p>
        </p:txBody>
      </p:sp>
      <p:sp>
        <p:nvSpPr>
          <p:cNvPr id="14" name="Text 12"/>
          <p:cNvSpPr txBox="1"/>
          <p:nvPr/>
        </p:nvSpPr>
        <p:spPr>
          <a:xfrm>
            <a:off x="2249424" y="3108960"/>
            <a:ext cx="1371600" cy="822960"/>
          </a:xfrm>
          <a:prstGeom prst="rect">
            <a:avLst/>
          </a:prstGeom>
          <a:noFill/>
          <a:ln/>
        </p:spPr>
        <p:txBody>
          <a:bodyPr wrap="square" lIns="0" tIns="0" rIns="0" bIns="0" rtlCol="0" anchor="t"/>
          <a:lstStyle/>
          <a:p>
            <a:pPr indent="0" marL="0">
              <a:buNone/>
            </a:pPr>
            <a:r>
              <a:rPr lang="en-US" sz="1100" dirty="0">
                <a:solidFill>
                  <a:srgbClr val="33415F"/>
                </a:solidFill>
                <a:latin typeface="Calibri" pitchFamily="34" charset="0"/>
                <a:ea typeface="Calibri" pitchFamily="34" charset="-122"/>
                <a:cs typeface="Calibri" pitchFamily="34" charset="-120"/>
              </a:rPr>
              <a:t>Malformed rows, duplicates, zeros, unit errors, coverage</a:t>
            </a:r>
            <a:endParaRPr lang="en-US" sz="1100" dirty="0"/>
          </a:p>
        </p:txBody>
      </p:sp>
      <p:sp>
        <p:nvSpPr>
          <p:cNvPr id="15" name="Shape 13"/>
          <p:cNvSpPr/>
          <p:nvPr/>
        </p:nvSpPr>
        <p:spPr>
          <a:xfrm>
            <a:off x="3822192" y="2286000"/>
            <a:ext cx="1572768" cy="1691640"/>
          </a:xfrm>
          <a:prstGeom prst="roundRect">
            <a:avLst>
              <a:gd name="adj" fmla="val 4651"/>
            </a:avLst>
          </a:prstGeom>
          <a:solidFill>
            <a:srgbClr val="F3F5F9"/>
          </a:solidFill>
          <a:ln w="12700">
            <a:solidFill>
              <a:srgbClr val="F3F5F9"/>
            </a:solidFill>
            <a:prstDash val="solid"/>
          </a:ln>
        </p:spPr>
      </p:sp>
      <p:sp>
        <p:nvSpPr>
          <p:cNvPr id="16" name="Shape 14"/>
          <p:cNvSpPr/>
          <p:nvPr/>
        </p:nvSpPr>
        <p:spPr>
          <a:xfrm>
            <a:off x="3931920" y="2395728"/>
            <a:ext cx="384048" cy="384048"/>
          </a:xfrm>
          <a:prstGeom prst="ellipse">
            <a:avLst/>
          </a:prstGeom>
          <a:solidFill>
            <a:srgbClr val="1F9E89"/>
          </a:solidFill>
          <a:ln w="12700">
            <a:solidFill>
              <a:srgbClr val="1F9E89"/>
            </a:solidFill>
            <a:prstDash val="solid"/>
          </a:ln>
        </p:spPr>
      </p:sp>
      <p:sp>
        <p:nvSpPr>
          <p:cNvPr id="17" name="Text 15"/>
          <p:cNvSpPr txBox="1"/>
          <p:nvPr/>
        </p:nvSpPr>
        <p:spPr>
          <a:xfrm>
            <a:off x="3931920" y="2395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3931920" y="2834640"/>
            <a:ext cx="1371600"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Profile variables</a:t>
            </a:r>
            <a:endParaRPr lang="en-US" sz="1300" dirty="0"/>
          </a:p>
        </p:txBody>
      </p:sp>
      <p:sp>
        <p:nvSpPr>
          <p:cNvPr id="19" name="Text 17"/>
          <p:cNvSpPr txBox="1"/>
          <p:nvPr/>
        </p:nvSpPr>
        <p:spPr>
          <a:xfrm>
            <a:off x="3931920" y="3108960"/>
            <a:ext cx="1371600" cy="822960"/>
          </a:xfrm>
          <a:prstGeom prst="rect">
            <a:avLst/>
          </a:prstGeom>
          <a:noFill/>
          <a:ln/>
        </p:spPr>
        <p:txBody>
          <a:bodyPr wrap="square" lIns="0" tIns="0" rIns="0" bIns="0" rtlCol="0" anchor="t"/>
          <a:lstStyle/>
          <a:p>
            <a:pPr indent="0" marL="0">
              <a:buNone/>
            </a:pPr>
            <a:r>
              <a:rPr lang="en-US" sz="1100" dirty="0">
                <a:solidFill>
                  <a:srgbClr val="33415F"/>
                </a:solidFill>
                <a:latin typeface="Calibri" pitchFamily="34" charset="0"/>
                <a:ea typeface="Calibri" pitchFamily="34" charset="-122"/>
                <a:cs typeface="Calibri" pitchFamily="34" charset="-120"/>
              </a:rPr>
              <a:t>Mean, median, SD and outliers for every field</a:t>
            </a:r>
            <a:endParaRPr lang="en-US" sz="1100" dirty="0"/>
          </a:p>
        </p:txBody>
      </p:sp>
      <p:sp>
        <p:nvSpPr>
          <p:cNvPr id="20" name="Shape 18"/>
          <p:cNvSpPr/>
          <p:nvPr/>
        </p:nvSpPr>
        <p:spPr>
          <a:xfrm>
            <a:off x="5504688" y="2286000"/>
            <a:ext cx="1572768" cy="1691640"/>
          </a:xfrm>
          <a:prstGeom prst="roundRect">
            <a:avLst>
              <a:gd name="adj" fmla="val 4651"/>
            </a:avLst>
          </a:prstGeom>
          <a:solidFill>
            <a:srgbClr val="F3F5F9"/>
          </a:solidFill>
          <a:ln w="12700">
            <a:solidFill>
              <a:srgbClr val="F3F5F9"/>
            </a:solidFill>
            <a:prstDash val="solid"/>
          </a:ln>
        </p:spPr>
      </p:sp>
      <p:sp>
        <p:nvSpPr>
          <p:cNvPr id="21" name="Shape 19"/>
          <p:cNvSpPr/>
          <p:nvPr/>
        </p:nvSpPr>
        <p:spPr>
          <a:xfrm>
            <a:off x="5614416" y="2395728"/>
            <a:ext cx="384048" cy="384048"/>
          </a:xfrm>
          <a:prstGeom prst="ellipse">
            <a:avLst/>
          </a:prstGeom>
          <a:solidFill>
            <a:srgbClr val="1F9E89"/>
          </a:solidFill>
          <a:ln w="12700">
            <a:solidFill>
              <a:srgbClr val="1F9E89"/>
            </a:solidFill>
            <a:prstDash val="solid"/>
          </a:ln>
        </p:spPr>
      </p:sp>
      <p:sp>
        <p:nvSpPr>
          <p:cNvPr id="22" name="Text 20"/>
          <p:cNvSpPr txBox="1"/>
          <p:nvPr/>
        </p:nvSpPr>
        <p:spPr>
          <a:xfrm>
            <a:off x="5614416" y="2395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5614416" y="2834640"/>
            <a:ext cx="1371600"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Test the drivers</a:t>
            </a:r>
            <a:endParaRPr lang="en-US" sz="1300" dirty="0"/>
          </a:p>
        </p:txBody>
      </p:sp>
      <p:sp>
        <p:nvSpPr>
          <p:cNvPr id="24" name="Text 22"/>
          <p:cNvSpPr txBox="1"/>
          <p:nvPr/>
        </p:nvSpPr>
        <p:spPr>
          <a:xfrm>
            <a:off x="5614416" y="3108960"/>
            <a:ext cx="1371600" cy="822960"/>
          </a:xfrm>
          <a:prstGeom prst="rect">
            <a:avLst/>
          </a:prstGeom>
          <a:noFill/>
          <a:ln/>
        </p:spPr>
        <p:txBody>
          <a:bodyPr wrap="square" lIns="0" tIns="0" rIns="0" bIns="0" rtlCol="0" anchor="t"/>
          <a:lstStyle/>
          <a:p>
            <a:pPr indent="0" marL="0">
              <a:buNone/>
            </a:pPr>
            <a:r>
              <a:rPr lang="en-US" sz="1100" dirty="0">
                <a:solidFill>
                  <a:srgbClr val="33415F"/>
                </a:solidFill>
                <a:latin typeface="Calibri" pitchFamily="34" charset="0"/>
                <a:ea typeface="Calibri" pitchFamily="34" charset="-122"/>
                <a:cs typeface="Calibri" pitchFamily="34" charset="-120"/>
              </a:rPr>
              <a:t>Budget, franchise, genre, timing; bootstrap checks</a:t>
            </a:r>
            <a:endParaRPr lang="en-US" sz="1100" dirty="0"/>
          </a:p>
        </p:txBody>
      </p:sp>
      <p:sp>
        <p:nvSpPr>
          <p:cNvPr id="25" name="Shape 23"/>
          <p:cNvSpPr/>
          <p:nvPr/>
        </p:nvSpPr>
        <p:spPr>
          <a:xfrm>
            <a:off x="7187184" y="2286000"/>
            <a:ext cx="1572768" cy="1691640"/>
          </a:xfrm>
          <a:prstGeom prst="roundRect">
            <a:avLst>
              <a:gd name="adj" fmla="val 4651"/>
            </a:avLst>
          </a:prstGeom>
          <a:solidFill>
            <a:srgbClr val="F3F5F9"/>
          </a:solidFill>
          <a:ln w="12700">
            <a:solidFill>
              <a:srgbClr val="F3F5F9"/>
            </a:solidFill>
            <a:prstDash val="solid"/>
          </a:ln>
        </p:spPr>
      </p:sp>
      <p:sp>
        <p:nvSpPr>
          <p:cNvPr id="26" name="Shape 24"/>
          <p:cNvSpPr/>
          <p:nvPr/>
        </p:nvSpPr>
        <p:spPr>
          <a:xfrm>
            <a:off x="7296912" y="2395728"/>
            <a:ext cx="384048" cy="384048"/>
          </a:xfrm>
          <a:prstGeom prst="ellipse">
            <a:avLst/>
          </a:prstGeom>
          <a:solidFill>
            <a:srgbClr val="E4572E"/>
          </a:solidFill>
          <a:ln w="12700">
            <a:solidFill>
              <a:srgbClr val="E4572E"/>
            </a:solidFill>
            <a:prstDash val="solid"/>
          </a:ln>
        </p:spPr>
      </p:sp>
      <p:sp>
        <p:nvSpPr>
          <p:cNvPr id="27" name="Text 25"/>
          <p:cNvSpPr txBox="1"/>
          <p:nvPr/>
        </p:nvSpPr>
        <p:spPr>
          <a:xfrm>
            <a:off x="7296912" y="2395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6"/>
          <p:cNvSpPr txBox="1"/>
          <p:nvPr/>
        </p:nvSpPr>
        <p:spPr>
          <a:xfrm>
            <a:off x="7296912" y="2834640"/>
            <a:ext cx="1371600"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Stress-test bias</a:t>
            </a:r>
            <a:endParaRPr lang="en-US" sz="1300" dirty="0"/>
          </a:p>
        </p:txBody>
      </p:sp>
      <p:sp>
        <p:nvSpPr>
          <p:cNvPr id="29" name="Text 27"/>
          <p:cNvSpPr txBox="1"/>
          <p:nvPr/>
        </p:nvSpPr>
        <p:spPr>
          <a:xfrm>
            <a:off x="7296912" y="3108960"/>
            <a:ext cx="1371600" cy="822960"/>
          </a:xfrm>
          <a:prstGeom prst="rect">
            <a:avLst/>
          </a:prstGeom>
          <a:noFill/>
          <a:ln/>
        </p:spPr>
        <p:txBody>
          <a:bodyPr wrap="square" lIns="0" tIns="0" rIns="0" bIns="0" rtlCol="0" anchor="t"/>
          <a:lstStyle/>
          <a:p>
            <a:pPr indent="0" marL="0">
              <a:buNone/>
            </a:pPr>
            <a:r>
              <a:rPr lang="en-US" sz="1100" dirty="0">
                <a:solidFill>
                  <a:srgbClr val="33415F"/>
                </a:solidFill>
                <a:latin typeface="Calibri" pitchFamily="34" charset="0"/>
                <a:ea typeface="Calibri" pitchFamily="34" charset="-122"/>
                <a:cs typeface="Calibri" pitchFamily="34" charset="-120"/>
              </a:rPr>
              <a:t>Collection, processing, insights; expected vs actual</a:t>
            </a:r>
            <a:endParaRPr lang="en-US" sz="1100" dirty="0"/>
          </a:p>
        </p:txBody>
      </p:sp>
      <p:sp>
        <p:nvSpPr>
          <p:cNvPr id="30" name="Text 28"/>
          <p:cNvSpPr txBox="1"/>
          <p:nvPr/>
        </p:nvSpPr>
        <p:spPr>
          <a:xfrm>
            <a:off x="457200" y="4114800"/>
            <a:ext cx="8229600" cy="548640"/>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Metric definitions: </a:t>
            </a:r>
            <a:pPr indent="0" marL="0">
              <a:buNone/>
            </a:pPr>
            <a:r>
              <a:rPr lang="en-US" sz="1200" dirty="0">
                <a:solidFill>
                  <a:srgbClr val="14213D"/>
                </a:solidFill>
                <a:latin typeface="Calibri" pitchFamily="34" charset="0"/>
                <a:ea typeface="Calibri" pitchFamily="34" charset="-122"/>
                <a:cs typeface="Calibri" pitchFamily="34" charset="-120"/>
              </a:rPr>
              <a:t>ROI = worldwide revenue ÷ budget. "Hit" = revenue of at least 2x budget, a proxy for breakeven after marketing and exhibitor share. Medians are used because money fields are heavily skewed.</a:t>
            </a:r>
            <a:endParaRPr lang="en-US" sz="12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C"/>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Data quality review: only 12% of films have usable financials</a:t>
            </a:r>
            <a:endParaRPr lang="en-US" sz="2600" dirty="0"/>
          </a:p>
        </p:txBody>
      </p:sp>
      <p:graphicFrame>
        <p:nvGraphicFramePr>
          <p:cNvPr id="3" name="Chart 0" descr=""/>
          <p:cNvGraphicFramePr/>
          <p:nvPr/>
        </p:nvGraphicFramePr>
        <p:xfrm>
          <a:off x="365760" y="1143000"/>
          <a:ext cx="429768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846320" y="1143000"/>
            <a:ext cx="3840480" cy="676656"/>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Schema and joins: </a:t>
            </a:r>
            <a:pPr indent="0" marL="0">
              <a:buNone/>
            </a:pPr>
            <a:r>
              <a:rPr lang="en-US" sz="1200" dirty="0">
                <a:solidFill>
                  <a:srgbClr val="33415F"/>
                </a:solidFill>
                <a:latin typeface="Calibri" pitchFamily="34" charset="0"/>
                <a:ea typeface="Calibri" pitchFamily="34" charset="-122"/>
                <a:cs typeface="Calibri" pitchFamily="34" charset="-120"/>
              </a:rPr>
              <a:t>Four child tables rebuilt: genres 91,015 rows, countries 49,368, companies 70,464, languages 53,266. Every movie_id matches a film id.</a:t>
            </a:r>
            <a:endParaRPr lang="en-US" sz="1200" dirty="0"/>
          </a:p>
        </p:txBody>
      </p:sp>
      <p:sp>
        <p:nvSpPr>
          <p:cNvPr id="5" name="Text 2"/>
          <p:cNvSpPr txBox="1"/>
          <p:nvPr/>
        </p:nvSpPr>
        <p:spPr>
          <a:xfrm>
            <a:off x="4846320" y="1847088"/>
            <a:ext cx="3840480" cy="676656"/>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Cleaning: </a:t>
            </a:r>
            <a:pPr indent="0" marL="0">
              <a:buNone/>
            </a:pPr>
            <a:r>
              <a:rPr lang="en-US" sz="1200" dirty="0">
                <a:solidFill>
                  <a:srgbClr val="33415F"/>
                </a:solidFill>
                <a:latin typeface="Calibri" pitchFamily="34" charset="0"/>
                <a:ea typeface="Calibri" pitchFamily="34" charset="-122"/>
                <a:cs typeface="Calibri" pitchFamily="34" charset="-120"/>
              </a:rPr>
              <a:t>3 malformed rows (shifted columns) and 30 duplicate IDs removed.</a:t>
            </a:r>
            <a:endParaRPr lang="en-US" sz="1200" dirty="0"/>
          </a:p>
        </p:txBody>
      </p:sp>
      <p:sp>
        <p:nvSpPr>
          <p:cNvPr id="6" name="Text 3"/>
          <p:cNvSpPr txBox="1"/>
          <p:nvPr/>
        </p:nvSpPr>
        <p:spPr>
          <a:xfrm>
            <a:off x="4846320" y="2551176"/>
            <a:ext cx="3840480" cy="676656"/>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Zeros mean missing: </a:t>
            </a:r>
            <a:pPr indent="0" marL="0">
              <a:buNone/>
            </a:pPr>
            <a:r>
              <a:rPr lang="en-US" sz="1200" dirty="0">
                <a:solidFill>
                  <a:srgbClr val="33415F"/>
                </a:solidFill>
                <a:latin typeface="Calibri" pitchFamily="34" charset="0"/>
                <a:ea typeface="Calibri" pitchFamily="34" charset="-122"/>
                <a:cs typeface="Calibri" pitchFamily="34" charset="-120"/>
              </a:rPr>
              <a:t>Budget is 0 for 80% of films and revenue 0 for 84%. Treated as missing, not as free or flop.</a:t>
            </a:r>
            <a:endParaRPr lang="en-US" sz="1200" dirty="0"/>
          </a:p>
        </p:txBody>
      </p:sp>
      <p:sp>
        <p:nvSpPr>
          <p:cNvPr id="7" name="Text 4"/>
          <p:cNvSpPr txBox="1"/>
          <p:nvPr/>
        </p:nvSpPr>
        <p:spPr>
          <a:xfrm>
            <a:off x="4846320" y="3255264"/>
            <a:ext cx="3840480" cy="676656"/>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Implausible values: </a:t>
            </a:r>
            <a:pPr indent="0" marL="0">
              <a:buNone/>
            </a:pPr>
            <a:r>
              <a:rPr lang="en-US" sz="1200" dirty="0">
                <a:solidFill>
                  <a:srgbClr val="33415F"/>
                </a:solidFill>
                <a:latin typeface="Calibri" pitchFamily="34" charset="0"/>
                <a:ea typeface="Calibri" pitchFamily="34" charset="-122"/>
                <a:cs typeface="Calibri" pitchFamily="34" charset="-120"/>
              </a:rPr>
              <a:t>244 budgets and 154 revenues under $1,000 (unit errors). A $10K floor removes them.</a:t>
            </a:r>
            <a:endParaRPr lang="en-US" sz="1200" dirty="0"/>
          </a:p>
        </p:txBody>
      </p:sp>
      <p:sp>
        <p:nvSpPr>
          <p:cNvPr id="8" name="Text 5"/>
          <p:cNvSpPr txBox="1"/>
          <p:nvPr/>
        </p:nvSpPr>
        <p:spPr>
          <a:xfrm>
            <a:off x="4846320" y="3959352"/>
            <a:ext cx="3840480" cy="676656"/>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Gaps elsewhere: </a:t>
            </a:r>
            <a:pPr indent="0" marL="0">
              <a:buNone/>
            </a:pPr>
            <a:r>
              <a:rPr lang="en-US" sz="1200" dirty="0">
                <a:solidFill>
                  <a:srgbClr val="33415F"/>
                </a:solidFill>
                <a:latin typeface="Calibri" pitchFamily="34" charset="0"/>
                <a:ea typeface="Calibri" pitchFamily="34" charset="-122"/>
                <a:cs typeface="Calibri" pitchFamily="34" charset="-120"/>
              </a:rPr>
              <a:t>2,442 films lack a genre, 1,558 have 0 runtime, 2,896 have 0 votes.</a:t>
            </a:r>
            <a:endParaRPr lang="en-US" sz="12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C"/>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Variable profile: means mislead, medians tell the story</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417320"/>
                <a:gridCol w="548640"/>
                <a:gridCol w="868680"/>
                <a:gridCol w="868680"/>
                <a:gridCol w="868680"/>
                <a:gridCol w="1143000"/>
                <a:gridCol w="2514600"/>
              </a:tblGrid>
              <a:tr h="347472">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Variable</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Mean</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Median</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Std dev</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Outliers (IQR)</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What it tells us</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14213D"/>
                    </a:solidFill>
                  </a:tcPr>
                </a:tc>
              </a:tr>
              <a:tr h="347472">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Budget ($)</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5,275</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$31.7M</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4213D"/>
                          </a:solidFill>
                          <a:latin typeface="Calibri" pitchFamily="34" charset="0"/>
                          <a:ea typeface="Calibri" pitchFamily="34" charset="-122"/>
                          <a:cs typeface="Calibri" pitchFamily="34" charset="-120"/>
                        </a:rPr>
                        <a:t>$17.0M</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$40.4M</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401 (7.6%)</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indent="0" marL="0">
                        <a:buNone/>
                      </a:pPr>
                      <a:r>
                        <a:rPr lang="en-US" sz="1100" dirty="0">
                          <a:solidFill>
                            <a:srgbClr val="33415F"/>
                          </a:solidFill>
                          <a:latin typeface="Calibri" pitchFamily="34" charset="0"/>
                          <a:ea typeface="Calibri" pitchFamily="34" charset="-122"/>
                          <a:cs typeface="Calibri" pitchFamily="34" charset="-120"/>
                        </a:rPr>
                        <a:t>Mean 1.9x median; a few mega-budgets</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r>
              <a:tr h="347472">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Revenue ($)</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5,275</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$92.1M</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algn="r" indent="0" marL="0">
                        <a:buNone/>
                      </a:pPr>
                      <a:r>
                        <a:rPr lang="en-US" sz="1200" b="1" dirty="0">
                          <a:solidFill>
                            <a:srgbClr val="14213D"/>
                          </a:solidFill>
                          <a:latin typeface="Calibri" pitchFamily="34" charset="0"/>
                          <a:ea typeface="Calibri" pitchFamily="34" charset="-122"/>
                          <a:cs typeface="Calibri" pitchFamily="34" charset="-120"/>
                        </a:rPr>
                        <a:t>$30.9M</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$167.3M</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530 (10.0%)</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indent="0" marL="0">
                        <a:buNone/>
                      </a:pPr>
                      <a:r>
                        <a:rPr lang="en-US" sz="1100" dirty="0">
                          <a:solidFill>
                            <a:srgbClr val="33415F"/>
                          </a:solidFill>
                          <a:latin typeface="Calibri" pitchFamily="34" charset="0"/>
                          <a:ea typeface="Calibri" pitchFamily="34" charset="-122"/>
                          <a:cs typeface="Calibri" pitchFamily="34" charset="-120"/>
                        </a:rPr>
                        <a:t>Skew 4.4; blockbusters drive the mean</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r>
              <a:tr h="347472">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ROI (rev ÷ budget)</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5,275</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8.7x</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4213D"/>
                          </a:solidFill>
                          <a:latin typeface="Calibri" pitchFamily="34" charset="0"/>
                          <a:ea typeface="Calibri" pitchFamily="34" charset="-122"/>
                          <a:cs typeface="Calibri" pitchFamily="34" charset="-120"/>
                        </a:rPr>
                        <a:t>2.1x</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187.7x</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476 (9.0%)</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indent="0" marL="0">
                        <a:buNone/>
                      </a:pPr>
                      <a:r>
                        <a:rPr lang="en-US" sz="1100" dirty="0">
                          <a:solidFill>
                            <a:srgbClr val="33415F"/>
                          </a:solidFill>
                          <a:latin typeface="Calibri" pitchFamily="34" charset="0"/>
                          <a:ea typeface="Calibri" pitchFamily="34" charset="-122"/>
                          <a:cs typeface="Calibri" pitchFamily="34" charset="-120"/>
                        </a:rPr>
                        <a:t>Mean 4x median; $1 budgets removed</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r>
              <a:tr h="347472">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Runtime (min)</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5,264</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110 min</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algn="r" indent="0" marL="0">
                        <a:buNone/>
                      </a:pPr>
                      <a:r>
                        <a:rPr lang="en-US" sz="1200" b="1" dirty="0">
                          <a:solidFill>
                            <a:srgbClr val="14213D"/>
                          </a:solidFill>
                          <a:latin typeface="Calibri" pitchFamily="34" charset="0"/>
                          <a:ea typeface="Calibri" pitchFamily="34" charset="-122"/>
                          <a:cs typeface="Calibri" pitchFamily="34" charset="-120"/>
                        </a:rPr>
                        <a:t>106 min</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21 min</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180 (3.4%)</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indent="0" marL="0">
                        <a:buNone/>
                      </a:pPr>
                      <a:r>
                        <a:rPr lang="en-US" sz="1100" dirty="0">
                          <a:solidFill>
                            <a:srgbClr val="33415F"/>
                          </a:solidFill>
                          <a:latin typeface="Calibri" pitchFamily="34" charset="0"/>
                          <a:ea typeface="Calibri" pitchFamily="34" charset="-122"/>
                          <a:cs typeface="Calibri" pitchFamily="34" charset="-120"/>
                        </a:rPr>
                        <a:t>Near-normal; epics over 3 hours</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r>
              <a:tr h="347472">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Vote average</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5,271</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6.29</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4213D"/>
                          </a:solidFill>
                          <a:latin typeface="Calibri" pitchFamily="34" charset="0"/>
                          <a:ea typeface="Calibri" pitchFamily="34" charset="-122"/>
                          <a:cs typeface="Calibri" pitchFamily="34" charset="-120"/>
                        </a:rPr>
                        <a:t>6.30</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0.90</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56 (1.1%)</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indent="0" marL="0">
                        <a:buNone/>
                      </a:pPr>
                      <a:r>
                        <a:rPr lang="en-US" sz="1100" dirty="0">
                          <a:solidFill>
                            <a:srgbClr val="33415F"/>
                          </a:solidFill>
                          <a:latin typeface="Calibri" pitchFamily="34" charset="0"/>
                          <a:ea typeface="Calibri" pitchFamily="34" charset="-122"/>
                          <a:cs typeface="Calibri" pitchFamily="34" charset="-120"/>
                        </a:rPr>
                        <a:t>Tight; 6.3 typical, left tail</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r>
              <a:tr h="347472">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Vote count</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5,275</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745</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algn="r" indent="0" marL="0">
                        <a:buNone/>
                      </a:pPr>
                      <a:r>
                        <a:rPr lang="en-US" sz="1200" b="1" dirty="0">
                          <a:solidFill>
                            <a:srgbClr val="14213D"/>
                          </a:solidFill>
                          <a:latin typeface="Calibri" pitchFamily="34" charset="0"/>
                          <a:ea typeface="Calibri" pitchFamily="34" charset="-122"/>
                          <a:cs typeface="Calibri" pitchFamily="34" charset="-120"/>
                        </a:rPr>
                        <a:t>286</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1,260</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538 (10.2%)</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indent="0" marL="0">
                        <a:buNone/>
                      </a:pPr>
                      <a:r>
                        <a:rPr lang="en-US" sz="1100" dirty="0">
                          <a:solidFill>
                            <a:srgbClr val="33415F"/>
                          </a:solidFill>
                          <a:latin typeface="Calibri" pitchFamily="34" charset="0"/>
                          <a:ea typeface="Calibri" pitchFamily="34" charset="-122"/>
                          <a:cs typeface="Calibri" pitchFamily="34" charset="-120"/>
                        </a:rPr>
                        <a:t>Mean 2.6x median; thin votes common</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r>
              <a:tr h="347472">
                <a:tc>
                  <a:txBody>
                    <a:bodyPr/>
                    <a:lstStyle/>
                    <a:p>
                      <a:pPr indent="0" marL="0">
                        <a:buNone/>
                      </a:pPr>
                      <a:r>
                        <a:rPr lang="en-US" sz="1200" b="1" dirty="0">
                          <a:solidFill>
                            <a:srgbClr val="14213D"/>
                          </a:solidFill>
                          <a:latin typeface="Calibri" pitchFamily="34" charset="0"/>
                          <a:ea typeface="Calibri" pitchFamily="34" charset="-122"/>
                          <a:cs typeface="Calibri" pitchFamily="34" charset="-120"/>
                        </a:rPr>
                        <a:t>Popularity</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5,275</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9.9</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4213D"/>
                          </a:solidFill>
                          <a:latin typeface="Calibri" pitchFamily="34" charset="0"/>
                          <a:ea typeface="Calibri" pitchFamily="34" charset="-122"/>
                          <a:cs typeface="Calibri" pitchFamily="34" charset="-120"/>
                        </a:rPr>
                        <a:t>8.5</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13.9</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199 (3.8%)</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indent="0" marL="0">
                        <a:buNone/>
                      </a:pPr>
                      <a:r>
                        <a:rPr lang="en-US" sz="1100" dirty="0">
                          <a:solidFill>
                            <a:srgbClr val="33415F"/>
                          </a:solidFill>
                          <a:latin typeface="Calibri" pitchFamily="34" charset="0"/>
                          <a:ea typeface="Calibri" pitchFamily="34" charset="-122"/>
                          <a:cs typeface="Calibri" pitchFamily="34" charset="-120"/>
                        </a:rPr>
                        <a:t>Highly skewed; trend metric only</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114800"/>
            <a:ext cx="8229600" cy="548640"/>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Outlier treatment: </a:t>
            </a:r>
            <a:pPr indent="0" marL="0">
              <a:buNone/>
            </a:pPr>
            <a:r>
              <a:rPr lang="en-US" sz="1200" dirty="0">
                <a:solidFill>
                  <a:srgbClr val="14213D"/>
                </a:solidFill>
                <a:latin typeface="Calibri" pitchFamily="34" charset="0"/>
                <a:ea typeface="Calibri" pitchFamily="34" charset="-122"/>
                <a:cs typeface="Calibri" pitchFamily="34" charset="-120"/>
              </a:rPr>
              <a:t>real blockbusters (Avatar, 2.8B) are kept; data-entry artifacts ($1 budgets, a 12.4M-times ROI) are removed by the $10K floor. Analysis set of 5,275 films, outliers by the 1.5x IQR rule.</a:t>
            </a:r>
            <a:endParaRPr lang="en-US" sz="12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C"/>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Distributions: most films cluster low, a few tower above</a:t>
            </a:r>
            <a:endParaRPr lang="en-US" sz="2600" dirty="0"/>
          </a:p>
        </p:txBody>
      </p:sp>
      <p:sp>
        <p:nvSpPr>
          <p:cNvPr id="3" name="Text 1"/>
          <p:cNvSpPr txBox="1"/>
          <p:nvPr/>
        </p:nvSpPr>
        <p:spPr>
          <a:xfrm>
            <a:off x="457200" y="1097280"/>
            <a:ext cx="4023360" cy="274320"/>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Budget (films per bracket)</a:t>
            </a:r>
            <a:endParaRPr lang="en-US" sz="1200" dirty="0"/>
          </a:p>
        </p:txBody>
      </p:sp>
      <p:graphicFrame>
        <p:nvGraphicFramePr>
          <p:cNvPr id="4" name="Chart 0" descr=""/>
          <p:cNvGraphicFramePr/>
          <p:nvPr/>
        </p:nvGraphicFramePr>
        <p:xfrm>
          <a:off x="457200" y="1353312"/>
          <a:ext cx="4023360" cy="14630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663440" y="1097280"/>
            <a:ext cx="4023360" cy="274320"/>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Revenue (films per bracket)</a:t>
            </a:r>
            <a:endParaRPr lang="en-US" sz="1200" dirty="0"/>
          </a:p>
        </p:txBody>
      </p:sp>
      <p:graphicFrame>
        <p:nvGraphicFramePr>
          <p:cNvPr id="6" name="Chart 1" descr=""/>
          <p:cNvGraphicFramePr/>
          <p:nvPr/>
        </p:nvGraphicFramePr>
        <p:xfrm>
          <a:off x="4663440" y="1353312"/>
          <a:ext cx="4023360" cy="146304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457200" y="2880360"/>
            <a:ext cx="4023360" cy="274320"/>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ROI multiple (films per bracket)</a:t>
            </a:r>
            <a:endParaRPr lang="en-US" sz="1200" dirty="0"/>
          </a:p>
        </p:txBody>
      </p:sp>
      <p:graphicFrame>
        <p:nvGraphicFramePr>
          <p:cNvPr id="8" name="Chart 2" descr=""/>
          <p:cNvGraphicFramePr/>
          <p:nvPr/>
        </p:nvGraphicFramePr>
        <p:xfrm>
          <a:off x="457200" y="3136392"/>
          <a:ext cx="4023360" cy="1463040"/>
        </p:xfrm>
        <a:graphic xmlns:a="http://schemas.openxmlformats.org/drawingml/2006/main">
          <a:graphicData uri="http://schemas.openxmlformats.org/drawingml/2006/chart">
            <c:chart xmlns:c="http://schemas.openxmlformats.org/drawingml/2006/chart" r:id="rId3"/>
          </a:graphicData>
        </a:graphic>
      </p:graphicFrame>
      <p:sp>
        <p:nvSpPr>
          <p:cNvPr id="9" name="Text 4"/>
          <p:cNvSpPr txBox="1"/>
          <p:nvPr/>
        </p:nvSpPr>
        <p:spPr>
          <a:xfrm>
            <a:off x="4663440" y="2880360"/>
            <a:ext cx="4023360" cy="274320"/>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Vote average (films per bracket)</a:t>
            </a:r>
            <a:endParaRPr lang="en-US" sz="1200" dirty="0"/>
          </a:p>
        </p:txBody>
      </p:sp>
      <p:graphicFrame>
        <p:nvGraphicFramePr>
          <p:cNvPr id="10" name="Chart 3" descr=""/>
          <p:cNvGraphicFramePr/>
          <p:nvPr/>
        </p:nvGraphicFramePr>
        <p:xfrm>
          <a:off x="4663440" y="3136392"/>
          <a:ext cx="4023360" cy="1463040"/>
        </p:xfrm>
        <a:graphic xmlns:a="http://schemas.openxmlformats.org/drawingml/2006/main">
          <a:graphicData uri="http://schemas.openxmlformats.org/drawingml/2006/chart">
            <c:chart xmlns:c="http://schemas.openxmlformats.org/drawingml/2006/chart" r:id="rId4"/>
          </a:graphicData>
        </a:graphic>
      </p:graphicFrame>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C"/>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Finding 1: returns dip in the middle, then rebound at the extremes</a:t>
            </a:r>
            <a:endParaRPr lang="en-US" sz="2600" dirty="0"/>
          </a:p>
        </p:txBody>
      </p:sp>
      <p:graphicFrame>
        <p:nvGraphicFramePr>
          <p:cNvPr id="3" name="Chart 0" descr=""/>
          <p:cNvGraphicFramePr/>
          <p:nvPr/>
        </p:nvGraphicFramePr>
        <p:xfrm>
          <a:off x="365760" y="1188720"/>
          <a:ext cx="5394960" cy="33832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943600" y="1188720"/>
            <a:ext cx="2743200" cy="1024128"/>
          </a:xfrm>
          <a:prstGeom prst="roundRect">
            <a:avLst>
              <a:gd name="adj" fmla="val 7143"/>
            </a:avLst>
          </a:prstGeom>
          <a:solidFill>
            <a:srgbClr val="F3F5F9"/>
          </a:solidFill>
          <a:ln w="12700">
            <a:solidFill>
              <a:srgbClr val="F3F5F9"/>
            </a:solidFill>
            <a:prstDash val="solid"/>
          </a:ln>
        </p:spPr>
      </p:sp>
      <p:sp>
        <p:nvSpPr>
          <p:cNvPr id="5" name="Text 2"/>
          <p:cNvSpPr txBox="1"/>
          <p:nvPr/>
        </p:nvSpPr>
        <p:spPr>
          <a:xfrm>
            <a:off x="6080760" y="1261872"/>
            <a:ext cx="914400" cy="868680"/>
          </a:xfrm>
          <a:prstGeom prst="rect">
            <a:avLst/>
          </a:prstGeom>
          <a:noFill/>
          <a:ln/>
        </p:spPr>
        <p:txBody>
          <a:bodyPr wrap="square" lIns="0" tIns="0" rIns="0" bIns="0" rtlCol="0" anchor="ctr"/>
          <a:lstStyle/>
          <a:p>
            <a:pPr indent="0" marL="0">
              <a:buNone/>
            </a:pPr>
            <a:r>
              <a:rPr lang="en-US" sz="2800" b="1" dirty="0">
                <a:solidFill>
                  <a:srgbClr val="1F9E89"/>
                </a:solidFill>
                <a:latin typeface="Cambria" pitchFamily="34" charset="0"/>
                <a:ea typeface="Cambria" pitchFamily="34" charset="-122"/>
                <a:cs typeface="Cambria" pitchFamily="34" charset="-120"/>
              </a:rPr>
              <a:t>2.8x</a:t>
            </a:r>
            <a:endParaRPr lang="en-US" sz="2800" dirty="0"/>
          </a:p>
        </p:txBody>
      </p:sp>
      <p:sp>
        <p:nvSpPr>
          <p:cNvPr id="6" name="Text 3"/>
          <p:cNvSpPr txBox="1"/>
          <p:nvPr/>
        </p:nvSpPr>
        <p:spPr>
          <a:xfrm>
            <a:off x="6995160" y="1261872"/>
            <a:ext cx="1600200" cy="86868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$100M+ films; even the 25th percentile earns 1.9x (n=325)</a:t>
            </a:r>
            <a:endParaRPr lang="en-US" sz="1100" dirty="0"/>
          </a:p>
        </p:txBody>
      </p:sp>
      <p:sp>
        <p:nvSpPr>
          <p:cNvPr id="7" name="Shape 4"/>
          <p:cNvSpPr/>
          <p:nvPr/>
        </p:nvSpPr>
        <p:spPr>
          <a:xfrm>
            <a:off x="5943600" y="2331720"/>
            <a:ext cx="2743200" cy="1024128"/>
          </a:xfrm>
          <a:prstGeom prst="roundRect">
            <a:avLst>
              <a:gd name="adj" fmla="val 7143"/>
            </a:avLst>
          </a:prstGeom>
          <a:solidFill>
            <a:srgbClr val="F3F5F9"/>
          </a:solidFill>
          <a:ln w="12700">
            <a:solidFill>
              <a:srgbClr val="F3F5F9"/>
            </a:solidFill>
            <a:prstDash val="solid"/>
          </a:ln>
        </p:spPr>
      </p:sp>
      <p:sp>
        <p:nvSpPr>
          <p:cNvPr id="8" name="Text 5"/>
          <p:cNvSpPr txBox="1"/>
          <p:nvPr/>
        </p:nvSpPr>
        <p:spPr>
          <a:xfrm>
            <a:off x="6080760" y="2404872"/>
            <a:ext cx="914400" cy="868680"/>
          </a:xfrm>
          <a:prstGeom prst="rect">
            <a:avLst/>
          </a:prstGeom>
          <a:noFill/>
          <a:ln/>
        </p:spPr>
        <p:txBody>
          <a:bodyPr wrap="square" lIns="0" tIns="0" rIns="0" bIns="0" rtlCol="0" anchor="ctr"/>
          <a:lstStyle/>
          <a:p>
            <a:pPr indent="0" marL="0">
              <a:buNone/>
            </a:pPr>
            <a:r>
              <a:rPr lang="en-US" sz="2800" b="1" dirty="0">
                <a:solidFill>
                  <a:srgbClr val="E4572E"/>
                </a:solidFill>
                <a:latin typeface="Cambria" pitchFamily="34" charset="0"/>
                <a:ea typeface="Cambria" pitchFamily="34" charset="-122"/>
                <a:cs typeface="Cambria" pitchFamily="34" charset="-120"/>
              </a:rPr>
              <a:t>1.6x</a:t>
            </a:r>
            <a:endParaRPr lang="en-US" sz="2800" dirty="0"/>
          </a:p>
        </p:txBody>
      </p:sp>
      <p:sp>
        <p:nvSpPr>
          <p:cNvPr id="9" name="Text 6"/>
          <p:cNvSpPr txBox="1"/>
          <p:nvPr/>
        </p:nvSpPr>
        <p:spPr>
          <a:xfrm>
            <a:off x="6995160" y="2404872"/>
            <a:ext cx="1600200" cy="86868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$15M to $30M films, the weakest bracket; only 43% reach 2x (n=1,085)</a:t>
            </a:r>
            <a:endParaRPr lang="en-US" sz="1100" dirty="0"/>
          </a:p>
        </p:txBody>
      </p:sp>
      <p:sp>
        <p:nvSpPr>
          <p:cNvPr id="10" name="Shape 7"/>
          <p:cNvSpPr/>
          <p:nvPr/>
        </p:nvSpPr>
        <p:spPr>
          <a:xfrm>
            <a:off x="5943600" y="3474720"/>
            <a:ext cx="2743200" cy="1024128"/>
          </a:xfrm>
          <a:prstGeom prst="roundRect">
            <a:avLst>
              <a:gd name="adj" fmla="val 7143"/>
            </a:avLst>
          </a:prstGeom>
          <a:solidFill>
            <a:srgbClr val="F3F5F9"/>
          </a:solidFill>
          <a:ln w="12700">
            <a:solidFill>
              <a:srgbClr val="F3F5F9"/>
            </a:solidFill>
            <a:prstDash val="solid"/>
          </a:ln>
        </p:spPr>
      </p:sp>
      <p:sp>
        <p:nvSpPr>
          <p:cNvPr id="11" name="Text 8"/>
          <p:cNvSpPr txBox="1"/>
          <p:nvPr/>
        </p:nvSpPr>
        <p:spPr>
          <a:xfrm>
            <a:off x="6080760" y="3547872"/>
            <a:ext cx="914400" cy="868680"/>
          </a:xfrm>
          <a:prstGeom prst="rect">
            <a:avLst/>
          </a:prstGeom>
          <a:noFill/>
          <a:ln/>
        </p:spPr>
        <p:txBody>
          <a:bodyPr wrap="square" lIns="0" tIns="0" rIns="0" bIns="0" rtlCol="0" anchor="ctr"/>
          <a:lstStyle/>
          <a:p>
            <a:pPr indent="0" marL="0">
              <a:buNone/>
            </a:pPr>
            <a:r>
              <a:rPr lang="en-US" sz="2800" b="1" dirty="0">
                <a:solidFill>
                  <a:srgbClr val="B7790A"/>
                </a:solidFill>
                <a:latin typeface="Cambria" pitchFamily="34" charset="0"/>
                <a:ea typeface="Cambria" pitchFamily="34" charset="-122"/>
                <a:cs typeface="Cambria" pitchFamily="34" charset="-120"/>
              </a:rPr>
              <a:t>5.0x</a:t>
            </a:r>
            <a:endParaRPr lang="en-US" sz="2800" dirty="0"/>
          </a:p>
        </p:txBody>
      </p:sp>
      <p:sp>
        <p:nvSpPr>
          <p:cNvPr id="12" name="Text 9"/>
          <p:cNvSpPr txBox="1"/>
          <p:nvPr/>
        </p:nvSpPr>
        <p:spPr>
          <a:xfrm>
            <a:off x="6995160" y="3547872"/>
            <a:ext cx="1600200" cy="86868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Under $1M films, but beware survivorship: only films with reported revenue appear (n=385)</a:t>
            </a:r>
            <a:endParaRPr lang="en-US" sz="11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C"/>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Finding 2: franchise films outperform at every budget level</a:t>
            </a:r>
            <a:endParaRPr lang="en-US" sz="2600" dirty="0"/>
          </a:p>
        </p:txBody>
      </p:sp>
      <p:graphicFrame>
        <p:nvGraphicFramePr>
          <p:cNvPr id="3" name="Chart 0" descr=""/>
          <p:cNvGraphicFramePr/>
          <p:nvPr/>
        </p:nvGraphicFramePr>
        <p:xfrm>
          <a:off x="365760" y="1188720"/>
          <a:ext cx="5577840" cy="33832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126480" y="1188720"/>
            <a:ext cx="2560320" cy="1417320"/>
          </a:xfrm>
          <a:prstGeom prst="roundRect">
            <a:avLst>
              <a:gd name="adj" fmla="val 5161"/>
            </a:avLst>
          </a:prstGeom>
          <a:solidFill>
            <a:srgbClr val="E4F4F0"/>
          </a:solidFill>
          <a:ln w="12700">
            <a:solidFill>
              <a:srgbClr val="E4F4F0"/>
            </a:solidFill>
            <a:prstDash val="solid"/>
          </a:ln>
        </p:spPr>
      </p:sp>
      <p:sp>
        <p:nvSpPr>
          <p:cNvPr id="5" name="Text 2"/>
          <p:cNvSpPr txBox="1"/>
          <p:nvPr/>
        </p:nvSpPr>
        <p:spPr>
          <a:xfrm>
            <a:off x="6263640" y="1234440"/>
            <a:ext cx="2286000" cy="640080"/>
          </a:xfrm>
          <a:prstGeom prst="rect">
            <a:avLst/>
          </a:prstGeom>
          <a:noFill/>
          <a:ln/>
        </p:spPr>
        <p:txBody>
          <a:bodyPr wrap="square" lIns="0" tIns="0" rIns="0" bIns="0" rtlCol="0" anchor="ctr"/>
          <a:lstStyle/>
          <a:p>
            <a:pPr indent="0" marL="0">
              <a:buNone/>
            </a:pPr>
            <a:r>
              <a:rPr lang="en-US" sz="3600" b="1" dirty="0">
                <a:solidFill>
                  <a:srgbClr val="1F9E89"/>
                </a:solidFill>
                <a:latin typeface="Cambria" pitchFamily="34" charset="0"/>
                <a:ea typeface="Cambria" pitchFamily="34" charset="-122"/>
                <a:cs typeface="Cambria" pitchFamily="34" charset="-120"/>
              </a:rPr>
              <a:t>3.7x</a:t>
            </a:r>
            <a:endParaRPr lang="en-US" sz="3600" dirty="0"/>
          </a:p>
        </p:txBody>
      </p:sp>
      <p:sp>
        <p:nvSpPr>
          <p:cNvPr id="6" name="Text 3"/>
          <p:cNvSpPr txBox="1"/>
          <p:nvPr/>
        </p:nvSpPr>
        <p:spPr>
          <a:xfrm>
            <a:off x="6263640" y="1874520"/>
            <a:ext cx="2286000" cy="685800"/>
          </a:xfrm>
          <a:prstGeom prst="rect">
            <a:avLst/>
          </a:prstGeom>
          <a:noFill/>
          <a:ln/>
        </p:spPr>
        <p:txBody>
          <a:bodyPr wrap="square" lIns="0" tIns="0" rIns="0" bIns="0" rtlCol="0" anchor="t"/>
          <a:lstStyle/>
          <a:p>
            <a:pPr indent="0" marL="0">
              <a:buNone/>
            </a:pPr>
            <a:r>
              <a:rPr lang="en-US" sz="1200" dirty="0">
                <a:solidFill>
                  <a:srgbClr val="14213D"/>
                </a:solidFill>
                <a:latin typeface="Calibri" pitchFamily="34" charset="0"/>
                <a:ea typeface="Calibri" pitchFamily="34" charset="-122"/>
                <a:cs typeface="Calibri" pitchFamily="34" charset="-120"/>
              </a:rPr>
              <a:t>median ROI for franchise films vs 1.6x standalone (1,217 vs 4,058)</a:t>
            </a:r>
            <a:endParaRPr lang="en-US" sz="1200" dirty="0"/>
          </a:p>
        </p:txBody>
      </p:sp>
      <p:sp>
        <p:nvSpPr>
          <p:cNvPr id="7" name="Shape 4"/>
          <p:cNvSpPr/>
          <p:nvPr/>
        </p:nvSpPr>
        <p:spPr>
          <a:xfrm>
            <a:off x="6126480" y="2743200"/>
            <a:ext cx="2560320" cy="1828800"/>
          </a:xfrm>
          <a:prstGeom prst="roundRect">
            <a:avLst>
              <a:gd name="adj" fmla="val 4000"/>
            </a:avLst>
          </a:prstGeom>
          <a:solidFill>
            <a:srgbClr val="FDE9E4"/>
          </a:solidFill>
          <a:ln w="12700">
            <a:solidFill>
              <a:srgbClr val="FDE9E4"/>
            </a:solidFill>
            <a:prstDash val="solid"/>
          </a:ln>
        </p:spPr>
      </p:sp>
      <p:sp>
        <p:nvSpPr>
          <p:cNvPr id="8" name="Text 5"/>
          <p:cNvSpPr txBox="1"/>
          <p:nvPr/>
        </p:nvSpPr>
        <p:spPr>
          <a:xfrm>
            <a:off x="6263640" y="2834640"/>
            <a:ext cx="2286000" cy="1645920"/>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Caution: </a:t>
            </a:r>
            <a:pPr indent="0" marL="0">
              <a:buNone/>
            </a:pPr>
            <a:r>
              <a:rPr lang="en-US" sz="1200" dirty="0">
                <a:solidFill>
                  <a:srgbClr val="14213D"/>
                </a:solidFill>
                <a:latin typeface="Calibri" pitchFamily="34" charset="0"/>
                <a:ea typeface="Calibri" pitchFamily="34" charset="-122"/>
                <a:cs typeface="Calibri" pitchFamily="34" charset="-120"/>
              </a:rPr>
              <a:t>sequels exist because the original already worked. Franchise ROI overstates what a new, unproven franchise would earn.</a:t>
            </a:r>
            <a:endParaRPr lang="en-US" sz="12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C"/>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Finding 3: animation and horror lead; drama trails</a:t>
            </a:r>
            <a:endParaRPr lang="en-US" sz="2600" dirty="0"/>
          </a:p>
        </p:txBody>
      </p:sp>
      <p:graphicFrame>
        <p:nvGraphicFramePr>
          <p:cNvPr id="3" name="Chart 0" descr=""/>
          <p:cNvGraphicFramePr/>
          <p:nvPr/>
        </p:nvGraphicFramePr>
        <p:xfrm>
          <a:off x="365760" y="1097280"/>
          <a:ext cx="5303520" cy="36118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852160" y="1143000"/>
            <a:ext cx="2834640" cy="868680"/>
          </a:xfrm>
          <a:prstGeom prst="roundRect">
            <a:avLst>
              <a:gd name="adj" fmla="val 8421"/>
            </a:avLst>
          </a:prstGeom>
          <a:solidFill>
            <a:srgbClr val="F3F5F9"/>
          </a:solidFill>
          <a:ln w="12700">
            <a:solidFill>
              <a:srgbClr val="F3F5F9"/>
            </a:solidFill>
            <a:prstDash val="solid"/>
          </a:ln>
        </p:spPr>
      </p:sp>
      <p:sp>
        <p:nvSpPr>
          <p:cNvPr id="5" name="Text 2"/>
          <p:cNvSpPr txBox="1"/>
          <p:nvPr/>
        </p:nvSpPr>
        <p:spPr>
          <a:xfrm>
            <a:off x="5989320" y="1207008"/>
            <a:ext cx="2560320" cy="27432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Animation 2.8x</a:t>
            </a:r>
            <a:endParaRPr lang="en-US" sz="1400" dirty="0"/>
          </a:p>
        </p:txBody>
      </p:sp>
      <p:sp>
        <p:nvSpPr>
          <p:cNvPr id="6" name="Text 3"/>
          <p:cNvSpPr txBox="1"/>
          <p:nvPr/>
        </p:nvSpPr>
        <p:spPr>
          <a:xfrm>
            <a:off x="5989320" y="1508760"/>
            <a:ext cx="2606040" cy="457200"/>
          </a:xfrm>
          <a:prstGeom prst="rect">
            <a:avLst/>
          </a:prstGeom>
          <a:noFill/>
          <a:ln/>
        </p:spPr>
        <p:txBody>
          <a:bodyPr wrap="square" lIns="0" tIns="0" rIns="0" bIns="0" rtlCol="0" anchor="t"/>
          <a:lstStyle/>
          <a:p>
            <a:pPr indent="0" marL="0">
              <a:buNone/>
            </a:pPr>
            <a:r>
              <a:rPr lang="en-US" sz="1100" dirty="0">
                <a:solidFill>
                  <a:srgbClr val="33415F"/>
                </a:solidFill>
                <a:latin typeface="Calibri" pitchFamily="34" charset="0"/>
                <a:ea typeface="Calibri" pitchFamily="34" charset="-122"/>
                <a:cs typeface="Calibri" pitchFamily="34" charset="-120"/>
              </a:rPr>
              <a:t>Median budget $54M, median revenue $120M (n=290)</a:t>
            </a:r>
            <a:endParaRPr lang="en-US" sz="1100" dirty="0"/>
          </a:p>
        </p:txBody>
      </p:sp>
      <p:sp>
        <p:nvSpPr>
          <p:cNvPr id="7" name="Shape 4"/>
          <p:cNvSpPr/>
          <p:nvPr/>
        </p:nvSpPr>
        <p:spPr>
          <a:xfrm>
            <a:off x="5852160" y="2103120"/>
            <a:ext cx="2834640" cy="868680"/>
          </a:xfrm>
          <a:prstGeom prst="roundRect">
            <a:avLst>
              <a:gd name="adj" fmla="val 8421"/>
            </a:avLst>
          </a:prstGeom>
          <a:solidFill>
            <a:srgbClr val="F3F5F9"/>
          </a:solidFill>
          <a:ln w="12700">
            <a:solidFill>
              <a:srgbClr val="F3F5F9"/>
            </a:solidFill>
            <a:prstDash val="solid"/>
          </a:ln>
        </p:spPr>
      </p:sp>
      <p:sp>
        <p:nvSpPr>
          <p:cNvPr id="8" name="Text 5"/>
          <p:cNvSpPr txBox="1"/>
          <p:nvPr/>
        </p:nvSpPr>
        <p:spPr>
          <a:xfrm>
            <a:off x="5989320" y="2167128"/>
            <a:ext cx="2560320" cy="27432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Horror 2.5x</a:t>
            </a:r>
            <a:endParaRPr lang="en-US" sz="1400" dirty="0"/>
          </a:p>
        </p:txBody>
      </p:sp>
      <p:sp>
        <p:nvSpPr>
          <p:cNvPr id="9" name="Text 6"/>
          <p:cNvSpPr txBox="1"/>
          <p:nvPr/>
        </p:nvSpPr>
        <p:spPr>
          <a:xfrm>
            <a:off x="5989320" y="2468880"/>
            <a:ext cx="2606040" cy="457200"/>
          </a:xfrm>
          <a:prstGeom prst="rect">
            <a:avLst/>
          </a:prstGeom>
          <a:noFill/>
          <a:ln/>
        </p:spPr>
        <p:txBody>
          <a:bodyPr wrap="square" lIns="0" tIns="0" rIns="0" bIns="0" rtlCol="0" anchor="t"/>
          <a:lstStyle/>
          <a:p>
            <a:pPr indent="0" marL="0">
              <a:buNone/>
            </a:pPr>
            <a:r>
              <a:rPr lang="en-US" sz="1100" dirty="0">
                <a:solidFill>
                  <a:srgbClr val="33415F"/>
                </a:solidFill>
                <a:latin typeface="Calibri" pitchFamily="34" charset="0"/>
                <a:ea typeface="Calibri" pitchFamily="34" charset="-122"/>
                <a:cs typeface="Calibri" pitchFamily="34" charset="-120"/>
              </a:rPr>
              <a:t>Median budget just $10M; under $15M it rises to 3.1x (n=578)</a:t>
            </a:r>
            <a:endParaRPr lang="en-US" sz="1100" dirty="0"/>
          </a:p>
        </p:txBody>
      </p:sp>
      <p:sp>
        <p:nvSpPr>
          <p:cNvPr id="10" name="Shape 7"/>
          <p:cNvSpPr/>
          <p:nvPr/>
        </p:nvSpPr>
        <p:spPr>
          <a:xfrm>
            <a:off x="5852160" y="3063240"/>
            <a:ext cx="2834640" cy="868680"/>
          </a:xfrm>
          <a:prstGeom prst="roundRect">
            <a:avLst>
              <a:gd name="adj" fmla="val 8421"/>
            </a:avLst>
          </a:prstGeom>
          <a:solidFill>
            <a:srgbClr val="F3F5F9"/>
          </a:solidFill>
          <a:ln w="12700">
            <a:solidFill>
              <a:srgbClr val="F3F5F9"/>
            </a:solidFill>
            <a:prstDash val="solid"/>
          </a:ln>
        </p:spPr>
      </p:sp>
      <p:sp>
        <p:nvSpPr>
          <p:cNvPr id="11" name="Text 8"/>
          <p:cNvSpPr txBox="1"/>
          <p:nvPr/>
        </p:nvSpPr>
        <p:spPr>
          <a:xfrm>
            <a:off x="5989320" y="3127248"/>
            <a:ext cx="2560320" cy="27432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Drama 1.8x</a:t>
            </a:r>
            <a:endParaRPr lang="en-US" sz="1400" dirty="0"/>
          </a:p>
        </p:txBody>
      </p:sp>
      <p:sp>
        <p:nvSpPr>
          <p:cNvPr id="12" name="Text 9"/>
          <p:cNvSpPr txBox="1"/>
          <p:nvPr/>
        </p:nvSpPr>
        <p:spPr>
          <a:xfrm>
            <a:off x="5989320" y="3429000"/>
            <a:ext cx="2606040" cy="457200"/>
          </a:xfrm>
          <a:prstGeom prst="rect">
            <a:avLst/>
          </a:prstGeom>
          <a:noFill/>
          <a:ln/>
        </p:spPr>
        <p:txBody>
          <a:bodyPr wrap="square" lIns="0" tIns="0" rIns="0" bIns="0" rtlCol="0" anchor="t"/>
          <a:lstStyle/>
          <a:p>
            <a:pPr indent="0" marL="0">
              <a:buNone/>
            </a:pPr>
            <a:r>
              <a:rPr lang="en-US" sz="1100" dirty="0">
                <a:solidFill>
                  <a:srgbClr val="33415F"/>
                </a:solidFill>
                <a:latin typeface="Calibri" pitchFamily="34" charset="0"/>
                <a:ea typeface="Calibri" pitchFamily="34" charset="-122"/>
                <a:cs typeface="Calibri" pitchFamily="34" charset="-120"/>
              </a:rPr>
              <a:t>The largest group (n=2,528) and among the weakest returns</a:t>
            </a:r>
            <a:endParaRPr lang="en-US" sz="1100" dirty="0"/>
          </a:p>
        </p:txBody>
      </p:sp>
      <p:sp>
        <p:nvSpPr>
          <p:cNvPr id="13" name="Text 10"/>
          <p:cNvSpPr txBox="1"/>
          <p:nvPr/>
        </p:nvSpPr>
        <p:spPr>
          <a:xfrm>
            <a:off x="5852160" y="4069080"/>
            <a:ext cx="2834640" cy="548640"/>
          </a:xfrm>
          <a:prstGeom prst="rect">
            <a:avLst/>
          </a:prstGeom>
          <a:noFill/>
          <a:ln/>
        </p:spPr>
        <p:txBody>
          <a:bodyPr wrap="square" lIns="0" tIns="0" rIns="0" bIns="0" rtlCol="0" anchor="t"/>
          <a:lstStyle/>
          <a:p>
            <a:pPr indent="0" marL="0">
              <a:buNone/>
            </a:pPr>
            <a:r>
              <a:rPr lang="en-US" sz="1000" i="1" dirty="0">
                <a:solidFill>
                  <a:srgbClr val="5B6B8C"/>
                </a:solidFill>
                <a:latin typeface="Calibri" pitchFamily="34" charset="0"/>
                <a:ea typeface="Calibri" pitchFamily="34" charset="-122"/>
                <a:cs typeface="Calibri" pitchFamily="34" charset="-120"/>
              </a:rPr>
              <a:t>Genres with 100+ films. A film counts in each of its genres, so groups overlap.</a:t>
            </a:r>
            <a:endParaRPr lang="en-US" sz="10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C"/>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Finding 4: release window moves returns by more than 1x</a:t>
            </a:r>
            <a:endParaRPr lang="en-US" sz="2600" dirty="0"/>
          </a:p>
        </p:txBody>
      </p:sp>
      <p:graphicFrame>
        <p:nvGraphicFramePr>
          <p:cNvPr id="3" name="Chart 0" descr=""/>
          <p:cNvGraphicFramePr/>
          <p:nvPr/>
        </p:nvGraphicFramePr>
        <p:xfrm>
          <a:off x="365760" y="1188720"/>
          <a:ext cx="5760720" cy="33832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309360" y="1188720"/>
            <a:ext cx="2377440" cy="1051560"/>
          </a:xfrm>
          <a:prstGeom prst="roundRect">
            <a:avLst>
              <a:gd name="adj" fmla="val 6957"/>
            </a:avLst>
          </a:prstGeom>
          <a:solidFill>
            <a:srgbClr val="E4F4F0"/>
          </a:solidFill>
          <a:ln w="12700">
            <a:solidFill>
              <a:srgbClr val="E4F4F0"/>
            </a:solidFill>
            <a:prstDash val="solid"/>
          </a:ln>
        </p:spPr>
      </p:sp>
      <p:sp>
        <p:nvSpPr>
          <p:cNvPr id="5" name="Text 2"/>
          <p:cNvSpPr txBox="1"/>
          <p:nvPr/>
        </p:nvSpPr>
        <p:spPr>
          <a:xfrm>
            <a:off x="6400800" y="1234440"/>
            <a:ext cx="2194560" cy="960120"/>
          </a:xfrm>
          <a:prstGeom prst="rect">
            <a:avLst/>
          </a:prstGeom>
          <a:noFill/>
          <a:ln/>
        </p:spPr>
        <p:txBody>
          <a:bodyPr wrap="square" lIns="0" tIns="0" rIns="0" bIns="0" rtlCol="0" anchor="ctr"/>
          <a:lstStyle/>
          <a:p>
            <a:pPr indent="0" marL="0">
              <a:buNone/>
            </a:pPr>
            <a:r>
              <a:rPr lang="en-US" sz="2200" b="1" dirty="0">
                <a:solidFill>
                  <a:srgbClr val="1F9E89"/>
                </a:solidFill>
                <a:latin typeface="Cambria" pitchFamily="34" charset="0"/>
                <a:ea typeface="Cambria" pitchFamily="34" charset="-122"/>
                <a:cs typeface="Cambria" pitchFamily="34" charset="-120"/>
              </a:rPr>
              <a:t>2.6x </a:t>
            </a:r>
            <a:pPr indent="0" marL="0">
              <a:buNone/>
            </a:pPr>
            <a:r>
              <a:rPr lang="en-US" sz="1100" dirty="0">
                <a:solidFill>
                  <a:srgbClr val="14213D"/>
                </a:solidFill>
                <a:latin typeface="Calibri" pitchFamily="34" charset="0"/>
                <a:ea typeface="Calibri" pitchFamily="34" charset="-122"/>
                <a:cs typeface="Calibri" pitchFamily="34" charset="-120"/>
              </a:rPr>
              <a:t>Jun, Jul, Dec (n=1,425)</a:t>
            </a:r>
            <a:endParaRPr lang="en-US" sz="2200" dirty="0"/>
          </a:p>
        </p:txBody>
      </p:sp>
      <p:sp>
        <p:nvSpPr>
          <p:cNvPr id="6" name="Shape 3"/>
          <p:cNvSpPr/>
          <p:nvPr/>
        </p:nvSpPr>
        <p:spPr>
          <a:xfrm>
            <a:off x="6309360" y="2377440"/>
            <a:ext cx="2377440" cy="1051560"/>
          </a:xfrm>
          <a:prstGeom prst="roundRect">
            <a:avLst>
              <a:gd name="adj" fmla="val 6957"/>
            </a:avLst>
          </a:prstGeom>
          <a:solidFill>
            <a:srgbClr val="FDE9E4"/>
          </a:solidFill>
          <a:ln w="12700">
            <a:solidFill>
              <a:srgbClr val="FDE9E4"/>
            </a:solidFill>
            <a:prstDash val="solid"/>
          </a:ln>
        </p:spPr>
      </p:sp>
      <p:sp>
        <p:nvSpPr>
          <p:cNvPr id="7" name="Text 4"/>
          <p:cNvSpPr txBox="1"/>
          <p:nvPr/>
        </p:nvSpPr>
        <p:spPr>
          <a:xfrm>
            <a:off x="6400800" y="2423160"/>
            <a:ext cx="2194560" cy="960120"/>
          </a:xfrm>
          <a:prstGeom prst="rect">
            <a:avLst/>
          </a:prstGeom>
          <a:noFill/>
          <a:ln/>
        </p:spPr>
        <p:txBody>
          <a:bodyPr wrap="square" lIns="0" tIns="0" rIns="0" bIns="0" rtlCol="0" anchor="ctr"/>
          <a:lstStyle/>
          <a:p>
            <a:pPr indent="0" marL="0">
              <a:buNone/>
            </a:pPr>
            <a:r>
              <a:rPr lang="en-US" sz="2200" b="1" dirty="0">
                <a:solidFill>
                  <a:srgbClr val="E4572E"/>
                </a:solidFill>
                <a:latin typeface="Cambria" pitchFamily="34" charset="0"/>
                <a:ea typeface="Cambria" pitchFamily="34" charset="-122"/>
                <a:cs typeface="Cambria" pitchFamily="34" charset="-120"/>
              </a:rPr>
              <a:t>1.4x </a:t>
            </a:r>
            <a:pPr indent="0" marL="0">
              <a:buNone/>
            </a:pPr>
            <a:r>
              <a:rPr lang="en-US" sz="1100" dirty="0">
                <a:solidFill>
                  <a:srgbClr val="14213D"/>
                </a:solidFill>
                <a:latin typeface="Calibri" pitchFamily="34" charset="0"/>
                <a:ea typeface="Calibri" pitchFamily="34" charset="-122"/>
                <a:cs typeface="Calibri" pitchFamily="34" charset="-120"/>
              </a:rPr>
              <a:t>September (n=608), the most crowded and weakest month</a:t>
            </a:r>
            <a:endParaRPr lang="en-US" sz="2200" dirty="0"/>
          </a:p>
        </p:txBody>
      </p:sp>
      <p:sp>
        <p:nvSpPr>
          <p:cNvPr id="8" name="Text 5"/>
          <p:cNvSpPr txBox="1"/>
          <p:nvPr/>
        </p:nvSpPr>
        <p:spPr>
          <a:xfrm>
            <a:off x="6309360" y="3566160"/>
            <a:ext cx="2377440" cy="1005840"/>
          </a:xfrm>
          <a:prstGeom prst="rect">
            <a:avLst/>
          </a:prstGeom>
          <a:noFill/>
          <a:ln/>
        </p:spPr>
        <p:txBody>
          <a:bodyPr wrap="square" lIns="0" tIns="0" rIns="0" bIns="0" rtlCol="0" anchor="t"/>
          <a:lstStyle/>
          <a:p>
            <a:pPr indent="0" marL="0">
              <a:buNone/>
            </a:pPr>
            <a:r>
              <a:rPr lang="en-US" sz="1100" dirty="0">
                <a:solidFill>
                  <a:srgbClr val="14213D"/>
                </a:solidFill>
                <a:latin typeface="Calibri" pitchFamily="34" charset="0"/>
                <a:ea typeface="Calibri" pitchFamily="34" charset="-122"/>
                <a:cs typeface="Calibri" pitchFamily="34" charset="-120"/>
              </a:rPr>
              <a:t>The gap holds within every budget tier (e.g. under $15M: 2.9x vs 2.1x), but narrows for $60M+ films (2.4x vs 2.3x).</a:t>
            </a:r>
            <a:endParaRPr lang="en-US" sz="11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C"/>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Biases across the data pipeline: collection, processing, insights</a:t>
            </a:r>
            <a:endParaRPr lang="en-US" sz="2600" dirty="0"/>
          </a:p>
        </p:txBody>
      </p:sp>
      <p:sp>
        <p:nvSpPr>
          <p:cNvPr id="3" name="Shape 1"/>
          <p:cNvSpPr/>
          <p:nvPr/>
        </p:nvSpPr>
        <p:spPr>
          <a:xfrm>
            <a:off x="457200" y="1143000"/>
            <a:ext cx="2633472" cy="411480"/>
          </a:xfrm>
          <a:prstGeom prst="roundRect">
            <a:avLst>
              <a:gd name="adj" fmla="val 13333"/>
            </a:avLst>
          </a:prstGeom>
          <a:solidFill>
            <a:srgbClr val="1F9E89"/>
          </a:solidFill>
          <a:ln w="12700">
            <a:solidFill>
              <a:srgbClr val="1F9E89"/>
            </a:solidFill>
            <a:prstDash val="solid"/>
          </a:ln>
        </p:spPr>
      </p:sp>
      <p:sp>
        <p:nvSpPr>
          <p:cNvPr id="4" name="Text 2"/>
          <p:cNvSpPr txBox="1"/>
          <p:nvPr/>
        </p:nvSpPr>
        <p:spPr>
          <a:xfrm>
            <a:off x="457200" y="1143000"/>
            <a:ext cx="2633472" cy="411480"/>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COLLECTION</a:t>
            </a:r>
            <a:endParaRPr lang="en-US" sz="1300" dirty="0"/>
          </a:p>
        </p:txBody>
      </p:sp>
      <p:sp>
        <p:nvSpPr>
          <p:cNvPr id="5" name="Shape 3"/>
          <p:cNvSpPr/>
          <p:nvPr/>
        </p:nvSpPr>
        <p:spPr>
          <a:xfrm>
            <a:off x="457200" y="1645920"/>
            <a:ext cx="2633472" cy="914400"/>
          </a:xfrm>
          <a:prstGeom prst="roundRect">
            <a:avLst>
              <a:gd name="adj" fmla="val 8000"/>
            </a:avLst>
          </a:prstGeom>
          <a:solidFill>
            <a:srgbClr val="F3F5F9"/>
          </a:solidFill>
          <a:ln w="12700">
            <a:solidFill>
              <a:srgbClr val="F3F5F9"/>
            </a:solidFill>
            <a:prstDash val="solid"/>
          </a:ln>
        </p:spPr>
      </p:sp>
      <p:sp>
        <p:nvSpPr>
          <p:cNvPr id="6" name="Text 4"/>
          <p:cNvSpPr txBox="1"/>
          <p:nvPr/>
        </p:nvSpPr>
        <p:spPr>
          <a:xfrm>
            <a:off x="566928" y="1691640"/>
            <a:ext cx="2423160" cy="841248"/>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Selection / survivorship bias</a:t>
            </a:r>
            <a:endParaRPr lang="en-US" sz="1200" dirty="0"/>
          </a:p>
          <a:p>
            <a:pPr indent="0" marL="0">
              <a:buNone/>
            </a:pPr>
            <a:r>
              <a:rPr lang="en-US" sz="1100" dirty="0">
                <a:solidFill>
                  <a:srgbClr val="33415F"/>
                </a:solidFill>
                <a:latin typeface="Calibri" pitchFamily="34" charset="0"/>
                <a:ea typeface="Calibri" pitchFamily="34" charset="-122"/>
                <a:cs typeface="Calibri" pitchFamily="34" charset="-120"/>
              </a:rPr>
              <a:t>Only films with reported revenue survive: 11.6% of the data.</a:t>
            </a:r>
            <a:endParaRPr lang="en-US" sz="1200" dirty="0"/>
          </a:p>
        </p:txBody>
      </p:sp>
      <p:sp>
        <p:nvSpPr>
          <p:cNvPr id="7" name="Shape 5"/>
          <p:cNvSpPr/>
          <p:nvPr/>
        </p:nvSpPr>
        <p:spPr>
          <a:xfrm>
            <a:off x="457200" y="2651760"/>
            <a:ext cx="2633472" cy="914400"/>
          </a:xfrm>
          <a:prstGeom prst="roundRect">
            <a:avLst>
              <a:gd name="adj" fmla="val 8000"/>
            </a:avLst>
          </a:prstGeom>
          <a:solidFill>
            <a:srgbClr val="F3F5F9"/>
          </a:solidFill>
          <a:ln w="12700">
            <a:solidFill>
              <a:srgbClr val="F3F5F9"/>
            </a:solidFill>
            <a:prstDash val="solid"/>
          </a:ln>
        </p:spPr>
      </p:sp>
      <p:sp>
        <p:nvSpPr>
          <p:cNvPr id="8" name="Text 6"/>
          <p:cNvSpPr txBox="1"/>
          <p:nvPr/>
        </p:nvSpPr>
        <p:spPr>
          <a:xfrm>
            <a:off x="566928" y="2697480"/>
            <a:ext cx="2423160" cy="841248"/>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Coverage bias</a:t>
            </a:r>
            <a:endParaRPr lang="en-US" sz="1200" dirty="0"/>
          </a:p>
          <a:p>
            <a:pPr indent="0" marL="0">
              <a:buNone/>
            </a:pPr>
            <a:r>
              <a:rPr lang="en-US" sz="1100" dirty="0">
                <a:solidFill>
                  <a:srgbClr val="33415F"/>
                </a:solidFill>
                <a:latin typeface="Calibri" pitchFamily="34" charset="0"/>
                <a:ea typeface="Calibri" pitchFamily="34" charset="-122"/>
                <a:cs typeface="Calibri" pitchFamily="34" charset="-120"/>
              </a:rPr>
              <a:t>71% English-language; ends in 2017 (532 films vs 1,904 in 2015).</a:t>
            </a:r>
            <a:endParaRPr lang="en-US" sz="1200" dirty="0"/>
          </a:p>
        </p:txBody>
      </p:sp>
      <p:sp>
        <p:nvSpPr>
          <p:cNvPr id="9" name="Shape 7"/>
          <p:cNvSpPr/>
          <p:nvPr/>
        </p:nvSpPr>
        <p:spPr>
          <a:xfrm>
            <a:off x="457200" y="3657600"/>
            <a:ext cx="2633472" cy="914400"/>
          </a:xfrm>
          <a:prstGeom prst="roundRect">
            <a:avLst>
              <a:gd name="adj" fmla="val 8000"/>
            </a:avLst>
          </a:prstGeom>
          <a:solidFill>
            <a:srgbClr val="F3F5F9"/>
          </a:solidFill>
          <a:ln w="12700">
            <a:solidFill>
              <a:srgbClr val="F3F5F9"/>
            </a:solidFill>
            <a:prstDash val="solid"/>
          </a:ln>
        </p:spPr>
      </p:sp>
      <p:sp>
        <p:nvSpPr>
          <p:cNvPr id="10" name="Text 8"/>
          <p:cNvSpPr txBox="1"/>
          <p:nvPr/>
        </p:nvSpPr>
        <p:spPr>
          <a:xfrm>
            <a:off x="566928" y="3703320"/>
            <a:ext cx="2423160" cy="841248"/>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Reporting bias</a:t>
            </a:r>
            <a:endParaRPr lang="en-US" sz="1200" dirty="0"/>
          </a:p>
          <a:p>
            <a:pPr indent="0" marL="0">
              <a:buNone/>
            </a:pPr>
            <a:r>
              <a:rPr lang="en-US" sz="1100" dirty="0">
                <a:solidFill>
                  <a:srgbClr val="33415F"/>
                </a:solidFill>
                <a:latin typeface="Calibri" pitchFamily="34" charset="0"/>
                <a:ea typeface="Calibri" pitchFamily="34" charset="-122"/>
                <a:cs typeface="Calibri" pitchFamily="34" charset="-120"/>
              </a:rPr>
              <a:t>Crowd-listed budgets; revenue is gross, with no marketing cost.</a:t>
            </a:r>
            <a:endParaRPr lang="en-US" sz="1200" dirty="0"/>
          </a:p>
        </p:txBody>
      </p:sp>
      <p:sp>
        <p:nvSpPr>
          <p:cNvPr id="11" name="Shape 9"/>
          <p:cNvSpPr/>
          <p:nvPr/>
        </p:nvSpPr>
        <p:spPr>
          <a:xfrm>
            <a:off x="3264408" y="1143000"/>
            <a:ext cx="2633472" cy="411480"/>
          </a:xfrm>
          <a:prstGeom prst="roundRect">
            <a:avLst>
              <a:gd name="adj" fmla="val 13333"/>
            </a:avLst>
          </a:prstGeom>
          <a:solidFill>
            <a:srgbClr val="F2B134"/>
          </a:solidFill>
          <a:ln w="12700">
            <a:solidFill>
              <a:srgbClr val="F2B134"/>
            </a:solidFill>
            <a:prstDash val="solid"/>
          </a:ln>
        </p:spPr>
      </p:sp>
      <p:sp>
        <p:nvSpPr>
          <p:cNvPr id="12" name="Text 10"/>
          <p:cNvSpPr txBox="1"/>
          <p:nvPr/>
        </p:nvSpPr>
        <p:spPr>
          <a:xfrm>
            <a:off x="3264408" y="1143000"/>
            <a:ext cx="2633472" cy="411480"/>
          </a:xfrm>
          <a:prstGeom prst="rect">
            <a:avLst/>
          </a:prstGeom>
          <a:noFill/>
          <a:ln/>
        </p:spPr>
        <p:txBody>
          <a:bodyPr wrap="square" lIns="0" tIns="0" rIns="0" bIns="0" rtlCol="0" anchor="ctr"/>
          <a:lstStyle/>
          <a:p>
            <a:pPr algn="ctr" indent="0" marL="0">
              <a:buNone/>
            </a:pPr>
            <a:r>
              <a:rPr lang="en-US" sz="1300" b="1" spc="200" kern="0" dirty="0">
                <a:solidFill>
                  <a:srgbClr val="14213D"/>
                </a:solidFill>
                <a:latin typeface="Calibri" pitchFamily="34" charset="0"/>
                <a:ea typeface="Calibri" pitchFamily="34" charset="-122"/>
                <a:cs typeface="Calibri" pitchFamily="34" charset="-120"/>
              </a:rPr>
              <a:t>PROCESSING</a:t>
            </a:r>
            <a:endParaRPr lang="en-US" sz="1300" dirty="0"/>
          </a:p>
        </p:txBody>
      </p:sp>
      <p:sp>
        <p:nvSpPr>
          <p:cNvPr id="13" name="Shape 11"/>
          <p:cNvSpPr/>
          <p:nvPr/>
        </p:nvSpPr>
        <p:spPr>
          <a:xfrm>
            <a:off x="3264408" y="1645920"/>
            <a:ext cx="2633472" cy="914400"/>
          </a:xfrm>
          <a:prstGeom prst="roundRect">
            <a:avLst>
              <a:gd name="adj" fmla="val 8000"/>
            </a:avLst>
          </a:prstGeom>
          <a:solidFill>
            <a:srgbClr val="F3F5F9"/>
          </a:solidFill>
          <a:ln w="12700">
            <a:solidFill>
              <a:srgbClr val="F3F5F9"/>
            </a:solidFill>
            <a:prstDash val="solid"/>
          </a:ln>
        </p:spPr>
      </p:sp>
      <p:sp>
        <p:nvSpPr>
          <p:cNvPr id="14" name="Text 12"/>
          <p:cNvSpPr txBox="1"/>
          <p:nvPr/>
        </p:nvSpPr>
        <p:spPr>
          <a:xfrm>
            <a:off x="3374136" y="1691640"/>
            <a:ext cx="2423160" cy="841248"/>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Missing-data bias</a:t>
            </a:r>
            <a:endParaRPr lang="en-US" sz="1200" dirty="0"/>
          </a:p>
          <a:p>
            <a:pPr indent="0" marL="0">
              <a:buNone/>
            </a:pPr>
            <a:r>
              <a:rPr lang="en-US" sz="1100" dirty="0">
                <a:solidFill>
                  <a:srgbClr val="33415F"/>
                </a:solidFill>
                <a:latin typeface="Calibri" pitchFamily="34" charset="0"/>
                <a:ea typeface="Calibri" pitchFamily="34" charset="-122"/>
                <a:cs typeface="Calibri" pitchFamily="34" charset="-120"/>
              </a:rPr>
              <a:t>Zeros treated as missing: 88% of rows dropped for ROI.</a:t>
            </a:r>
            <a:endParaRPr lang="en-US" sz="1200" dirty="0"/>
          </a:p>
        </p:txBody>
      </p:sp>
      <p:sp>
        <p:nvSpPr>
          <p:cNvPr id="15" name="Shape 13"/>
          <p:cNvSpPr/>
          <p:nvPr/>
        </p:nvSpPr>
        <p:spPr>
          <a:xfrm>
            <a:off x="3264408" y="2651760"/>
            <a:ext cx="2633472" cy="914400"/>
          </a:xfrm>
          <a:prstGeom prst="roundRect">
            <a:avLst>
              <a:gd name="adj" fmla="val 8000"/>
            </a:avLst>
          </a:prstGeom>
          <a:solidFill>
            <a:srgbClr val="F3F5F9"/>
          </a:solidFill>
          <a:ln w="12700">
            <a:solidFill>
              <a:srgbClr val="F3F5F9"/>
            </a:solidFill>
            <a:prstDash val="solid"/>
          </a:ln>
        </p:spPr>
      </p:sp>
      <p:sp>
        <p:nvSpPr>
          <p:cNvPr id="16" name="Text 14"/>
          <p:cNvSpPr txBox="1"/>
          <p:nvPr/>
        </p:nvSpPr>
        <p:spPr>
          <a:xfrm>
            <a:off x="3374136" y="2697480"/>
            <a:ext cx="2423160" cy="841248"/>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Measurement error</a:t>
            </a:r>
            <a:endParaRPr lang="en-US" sz="1200" dirty="0"/>
          </a:p>
          <a:p>
            <a:pPr indent="0" marL="0">
              <a:buNone/>
            </a:pPr>
            <a:r>
              <a:rPr lang="en-US" sz="1100" dirty="0">
                <a:solidFill>
                  <a:srgbClr val="33415F"/>
                </a:solidFill>
                <a:latin typeface="Calibri" pitchFamily="34" charset="0"/>
                <a:ea typeface="Calibri" pitchFamily="34" charset="-122"/>
                <a:cs typeface="Calibri" pitchFamily="34" charset="-120"/>
              </a:rPr>
              <a:t>244 unit-error budgets; dollars not inflation-adjusted.</a:t>
            </a:r>
            <a:endParaRPr lang="en-US" sz="1200" dirty="0"/>
          </a:p>
        </p:txBody>
      </p:sp>
      <p:sp>
        <p:nvSpPr>
          <p:cNvPr id="17" name="Shape 15"/>
          <p:cNvSpPr/>
          <p:nvPr/>
        </p:nvSpPr>
        <p:spPr>
          <a:xfrm>
            <a:off x="3264408" y="3657600"/>
            <a:ext cx="2633472" cy="914400"/>
          </a:xfrm>
          <a:prstGeom prst="roundRect">
            <a:avLst>
              <a:gd name="adj" fmla="val 8000"/>
            </a:avLst>
          </a:prstGeom>
          <a:solidFill>
            <a:srgbClr val="F3F5F9"/>
          </a:solidFill>
          <a:ln w="12700">
            <a:solidFill>
              <a:srgbClr val="F3F5F9"/>
            </a:solidFill>
            <a:prstDash val="solid"/>
          </a:ln>
        </p:spPr>
      </p:sp>
      <p:sp>
        <p:nvSpPr>
          <p:cNvPr id="18" name="Text 16"/>
          <p:cNvSpPr txBox="1"/>
          <p:nvPr/>
        </p:nvSpPr>
        <p:spPr>
          <a:xfrm>
            <a:off x="3374136" y="3703320"/>
            <a:ext cx="2423160" cy="841248"/>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Double counting</a:t>
            </a:r>
            <a:endParaRPr lang="en-US" sz="1200" dirty="0"/>
          </a:p>
          <a:p>
            <a:pPr indent="0" marL="0">
              <a:buNone/>
            </a:pPr>
            <a:r>
              <a:rPr lang="en-US" sz="1100" dirty="0">
                <a:solidFill>
                  <a:srgbClr val="33415F"/>
                </a:solidFill>
                <a:latin typeface="Calibri" pitchFamily="34" charset="0"/>
                <a:ea typeface="Calibri" pitchFamily="34" charset="-122"/>
                <a:cs typeface="Calibri" pitchFamily="34" charset="-120"/>
              </a:rPr>
              <a:t>Films carry 2.1 genres each, so genre groups overlap.</a:t>
            </a:r>
            <a:endParaRPr lang="en-US" sz="1200" dirty="0"/>
          </a:p>
        </p:txBody>
      </p:sp>
      <p:sp>
        <p:nvSpPr>
          <p:cNvPr id="19" name="Shape 17"/>
          <p:cNvSpPr/>
          <p:nvPr/>
        </p:nvSpPr>
        <p:spPr>
          <a:xfrm>
            <a:off x="6071616" y="1143000"/>
            <a:ext cx="2633472" cy="411480"/>
          </a:xfrm>
          <a:prstGeom prst="roundRect">
            <a:avLst>
              <a:gd name="adj" fmla="val 13333"/>
            </a:avLst>
          </a:prstGeom>
          <a:solidFill>
            <a:srgbClr val="E4572E"/>
          </a:solidFill>
          <a:ln w="12700">
            <a:solidFill>
              <a:srgbClr val="E4572E"/>
            </a:solidFill>
            <a:prstDash val="solid"/>
          </a:ln>
        </p:spPr>
      </p:sp>
      <p:sp>
        <p:nvSpPr>
          <p:cNvPr id="20" name="Text 18"/>
          <p:cNvSpPr txBox="1"/>
          <p:nvPr/>
        </p:nvSpPr>
        <p:spPr>
          <a:xfrm>
            <a:off x="6071616" y="1143000"/>
            <a:ext cx="2633472" cy="411480"/>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INSIGHTS</a:t>
            </a:r>
            <a:endParaRPr lang="en-US" sz="1300" dirty="0"/>
          </a:p>
        </p:txBody>
      </p:sp>
      <p:sp>
        <p:nvSpPr>
          <p:cNvPr id="21" name="Shape 19"/>
          <p:cNvSpPr/>
          <p:nvPr/>
        </p:nvSpPr>
        <p:spPr>
          <a:xfrm>
            <a:off x="6071616" y="1645920"/>
            <a:ext cx="2633472" cy="914400"/>
          </a:xfrm>
          <a:prstGeom prst="roundRect">
            <a:avLst>
              <a:gd name="adj" fmla="val 8000"/>
            </a:avLst>
          </a:prstGeom>
          <a:solidFill>
            <a:srgbClr val="F3F5F9"/>
          </a:solidFill>
          <a:ln w="12700">
            <a:solidFill>
              <a:srgbClr val="F3F5F9"/>
            </a:solidFill>
            <a:prstDash val="solid"/>
          </a:ln>
        </p:spPr>
      </p:sp>
      <p:sp>
        <p:nvSpPr>
          <p:cNvPr id="22" name="Text 20"/>
          <p:cNvSpPr txBox="1"/>
          <p:nvPr/>
        </p:nvSpPr>
        <p:spPr>
          <a:xfrm>
            <a:off x="6181344" y="1691640"/>
            <a:ext cx="2423160" cy="841248"/>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Survivorship in franchises</a:t>
            </a:r>
            <a:endParaRPr lang="en-US" sz="1200" dirty="0"/>
          </a:p>
          <a:p>
            <a:pPr indent="0" marL="0">
              <a:buNone/>
            </a:pPr>
            <a:r>
              <a:rPr lang="en-US" sz="1100" dirty="0">
                <a:solidFill>
                  <a:srgbClr val="33415F"/>
                </a:solidFill>
                <a:latin typeface="Calibri" pitchFamily="34" charset="0"/>
                <a:ea typeface="Calibri" pitchFamily="34" charset="-122"/>
                <a:cs typeface="Calibri" pitchFamily="34" charset="-120"/>
              </a:rPr>
              <a:t>Sequels exist because originals succeeded.</a:t>
            </a:r>
            <a:endParaRPr lang="en-US" sz="1200" dirty="0"/>
          </a:p>
        </p:txBody>
      </p:sp>
      <p:sp>
        <p:nvSpPr>
          <p:cNvPr id="23" name="Shape 21"/>
          <p:cNvSpPr/>
          <p:nvPr/>
        </p:nvSpPr>
        <p:spPr>
          <a:xfrm>
            <a:off x="6071616" y="2651760"/>
            <a:ext cx="2633472" cy="914400"/>
          </a:xfrm>
          <a:prstGeom prst="roundRect">
            <a:avLst>
              <a:gd name="adj" fmla="val 8000"/>
            </a:avLst>
          </a:prstGeom>
          <a:solidFill>
            <a:srgbClr val="F3F5F9"/>
          </a:solidFill>
          <a:ln w="12700">
            <a:solidFill>
              <a:srgbClr val="F3F5F9"/>
            </a:solidFill>
            <a:prstDash val="solid"/>
          </a:ln>
        </p:spPr>
      </p:sp>
      <p:sp>
        <p:nvSpPr>
          <p:cNvPr id="24" name="Text 22"/>
          <p:cNvSpPr txBox="1"/>
          <p:nvPr/>
        </p:nvSpPr>
        <p:spPr>
          <a:xfrm>
            <a:off x="6181344" y="2697480"/>
            <a:ext cx="2423160" cy="841248"/>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Small-denominator bias</a:t>
            </a:r>
            <a:endParaRPr lang="en-US" sz="1200" dirty="0"/>
          </a:p>
          <a:p>
            <a:pPr indent="0" marL="0">
              <a:buNone/>
            </a:pPr>
            <a:r>
              <a:rPr lang="en-US" sz="1100" dirty="0">
                <a:solidFill>
                  <a:srgbClr val="33415F"/>
                </a:solidFill>
                <a:latin typeface="Calibri" pitchFamily="34" charset="0"/>
                <a:ea typeface="Calibri" pitchFamily="34" charset="-122"/>
                <a:cs typeface="Calibri" pitchFamily="34" charset="-120"/>
              </a:rPr>
              <a:t>Tiny budgets inflate ROI multiples (5.0x under $1M).</a:t>
            </a:r>
            <a:endParaRPr lang="en-US" sz="1200" dirty="0"/>
          </a:p>
        </p:txBody>
      </p:sp>
      <p:sp>
        <p:nvSpPr>
          <p:cNvPr id="25" name="Shape 23"/>
          <p:cNvSpPr/>
          <p:nvPr/>
        </p:nvSpPr>
        <p:spPr>
          <a:xfrm>
            <a:off x="6071616" y="3657600"/>
            <a:ext cx="2633472" cy="914400"/>
          </a:xfrm>
          <a:prstGeom prst="roundRect">
            <a:avLst>
              <a:gd name="adj" fmla="val 8000"/>
            </a:avLst>
          </a:prstGeom>
          <a:solidFill>
            <a:srgbClr val="F3F5F9"/>
          </a:solidFill>
          <a:ln w="12700">
            <a:solidFill>
              <a:srgbClr val="F3F5F9"/>
            </a:solidFill>
            <a:prstDash val="solid"/>
          </a:ln>
        </p:spPr>
      </p:sp>
      <p:sp>
        <p:nvSpPr>
          <p:cNvPr id="26" name="Text 24"/>
          <p:cNvSpPr txBox="1"/>
          <p:nvPr/>
        </p:nvSpPr>
        <p:spPr>
          <a:xfrm>
            <a:off x="6181344" y="3703320"/>
            <a:ext cx="2423160" cy="841248"/>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Confounding</a:t>
            </a:r>
            <a:endParaRPr lang="en-US" sz="1200" dirty="0"/>
          </a:p>
          <a:p>
            <a:pPr indent="0" marL="0">
              <a:buNone/>
            </a:pPr>
            <a:r>
              <a:rPr lang="en-US" sz="1100" dirty="0">
                <a:solidFill>
                  <a:srgbClr val="33415F"/>
                </a:solidFill>
                <a:latin typeface="Calibri" pitchFamily="34" charset="0"/>
                <a:ea typeface="Calibri" pitchFamily="34" charset="-122"/>
                <a:cs typeface="Calibri" pitchFamily="34" charset="-120"/>
              </a:rPr>
              <a:t>Correlation is not cause; small samples in niche genres.</a:t>
            </a:r>
            <a:endParaRPr lang="en-US" sz="12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C"/>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Expected vs actual: the usable sample is not the population</a:t>
            </a:r>
            <a:endParaRPr lang="en-US" sz="2600" dirty="0"/>
          </a:p>
        </p:txBody>
      </p:sp>
      <p:graphicFrame>
        <p:nvGraphicFramePr>
          <p:cNvPr id="3" name="Chart 0" descr=""/>
          <p:cNvGraphicFramePr/>
          <p:nvPr/>
        </p:nvGraphicFramePr>
        <p:xfrm>
          <a:off x="365760" y="1143000"/>
          <a:ext cx="5120640" cy="3520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669280" y="1143000"/>
            <a:ext cx="3017520" cy="256032"/>
          </a:xfrm>
          <a:prstGeom prst="rect">
            <a:avLst/>
          </a:prstGeom>
          <a:noFill/>
          <a:ln/>
        </p:spPr>
        <p:txBody>
          <a:bodyPr wrap="square" lIns="0" tIns="0" rIns="0" bIns="0" rtlCol="0" anchor="ctr"/>
          <a:lstStyle/>
          <a:p>
            <a:pPr indent="0" marL="0">
              <a:buNone/>
            </a:pPr>
            <a:r>
              <a:rPr lang="en-US" sz="1200" b="1" dirty="0">
                <a:solidFill>
                  <a:srgbClr val="1F9E89"/>
                </a:solidFill>
                <a:latin typeface="Calibri" pitchFamily="34" charset="0"/>
                <a:ea typeface="Calibri" pitchFamily="34" charset="-122"/>
                <a:cs typeface="Calibri" pitchFamily="34" charset="-120"/>
              </a:rPr>
              <a:t>WHAT WE EXPECTED</a:t>
            </a:r>
            <a:endParaRPr lang="en-US" sz="1200" dirty="0"/>
          </a:p>
        </p:txBody>
      </p:sp>
      <p:sp>
        <p:nvSpPr>
          <p:cNvPr id="5" name="Text 2"/>
          <p:cNvSpPr txBox="1"/>
          <p:nvPr/>
        </p:nvSpPr>
        <p:spPr>
          <a:xfrm>
            <a:off x="5669280" y="1417320"/>
            <a:ext cx="3017520" cy="12344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4213D"/>
                </a:solidFill>
                <a:latin typeface="Calibri" pitchFamily="34" charset="0"/>
                <a:ea typeface="Calibri" pitchFamily="34" charset="-122"/>
                <a:cs typeface="Calibri" pitchFamily="34" charset="-120"/>
              </a:rPr>
              <a:t>Brief: "highly successful" films, each with revenue and ratings</a:t>
            </a:r>
            <a:endParaRPr lang="en-US" sz="1200" dirty="0"/>
          </a:p>
          <a:p>
            <a:pPr marL="342900" indent="-342900">
              <a:spcAft>
                <a:spcPts val="400"/>
              </a:spcAft>
              <a:buSzPct val="100000"/>
              <a:buChar char="•"/>
            </a:pPr>
            <a:r>
              <a:rPr lang="en-US" sz="1200" dirty="0">
                <a:solidFill>
                  <a:srgbClr val="14213D"/>
                </a:solidFill>
                <a:latin typeface="Calibri" pitchFamily="34" charset="0"/>
                <a:ea typeface="Calibri" pitchFamily="34" charset="-122"/>
                <a:cs typeface="Calibri" pitchFamily="34" charset="-120"/>
              </a:rPr>
              <a:t>A global mix of languages and countries</a:t>
            </a:r>
            <a:endParaRPr lang="en-US" sz="1200" dirty="0"/>
          </a:p>
          <a:p>
            <a:pPr marL="342900" indent="-342900">
              <a:spcAft>
                <a:spcPts val="400"/>
              </a:spcAft>
              <a:buSzPct val="100000"/>
              <a:buChar char="•"/>
            </a:pPr>
            <a:r>
              <a:rPr lang="en-US" sz="1200" dirty="0">
                <a:solidFill>
                  <a:srgbClr val="14213D"/>
                </a:solidFill>
                <a:latin typeface="Calibri" pitchFamily="34" charset="0"/>
                <a:ea typeface="Calibri" pitchFamily="34" charset="-122"/>
                <a:cs typeface="Calibri" pitchFamily="34" charset="-120"/>
              </a:rPr>
              <a:t>A representative spread across eras and genres</a:t>
            </a:r>
            <a:endParaRPr lang="en-US" sz="1200" dirty="0"/>
          </a:p>
        </p:txBody>
      </p:sp>
      <p:sp>
        <p:nvSpPr>
          <p:cNvPr id="6" name="Text 3"/>
          <p:cNvSpPr txBox="1"/>
          <p:nvPr/>
        </p:nvSpPr>
        <p:spPr>
          <a:xfrm>
            <a:off x="5669280" y="2743200"/>
            <a:ext cx="3017520" cy="256032"/>
          </a:xfrm>
          <a:prstGeom prst="rect">
            <a:avLst/>
          </a:prstGeom>
          <a:noFill/>
          <a:ln/>
        </p:spPr>
        <p:txBody>
          <a:bodyPr wrap="square" lIns="0" tIns="0" rIns="0" bIns="0" rtlCol="0" anchor="ctr"/>
          <a:lstStyle/>
          <a:p>
            <a:pPr indent="0" marL="0">
              <a:buNone/>
            </a:pPr>
            <a:r>
              <a:rPr lang="en-US" sz="1200" b="1" dirty="0">
                <a:solidFill>
                  <a:srgbClr val="E4572E"/>
                </a:solidFill>
                <a:latin typeface="Calibri" pitchFamily="34" charset="0"/>
                <a:ea typeface="Calibri" pitchFamily="34" charset="-122"/>
                <a:cs typeface="Calibri" pitchFamily="34" charset="-120"/>
              </a:rPr>
              <a:t>WHAT THE DATA SHOWS</a:t>
            </a:r>
            <a:endParaRPr lang="en-US" sz="1200" dirty="0"/>
          </a:p>
        </p:txBody>
      </p:sp>
      <p:sp>
        <p:nvSpPr>
          <p:cNvPr id="7" name="Text 4"/>
          <p:cNvSpPr txBox="1"/>
          <p:nvPr/>
        </p:nvSpPr>
        <p:spPr>
          <a:xfrm>
            <a:off x="5669280" y="3017520"/>
            <a:ext cx="3017520" cy="12801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4213D"/>
                </a:solidFill>
                <a:latin typeface="Calibri" pitchFamily="34" charset="0"/>
                <a:ea typeface="Calibri" pitchFamily="34" charset="-122"/>
                <a:cs typeface="Calibri" pitchFamily="34" charset="-120"/>
              </a:rPr>
              <a:t>84% have zero revenue; median film has 10 votes</a:t>
            </a:r>
            <a:endParaRPr lang="en-US" sz="1200" dirty="0"/>
          </a:p>
          <a:p>
            <a:pPr marL="342900" indent="-342900">
              <a:spcAft>
                <a:spcPts val="400"/>
              </a:spcAft>
              <a:buSzPct val="100000"/>
              <a:buChar char="•"/>
            </a:pPr>
            <a:r>
              <a:rPr lang="en-US" sz="1200" dirty="0">
                <a:solidFill>
                  <a:srgbClr val="14213D"/>
                </a:solidFill>
                <a:latin typeface="Calibri" pitchFamily="34" charset="0"/>
                <a:ea typeface="Calibri" pitchFamily="34" charset="-122"/>
                <a:cs typeface="Calibri" pitchFamily="34" charset="-120"/>
              </a:rPr>
              <a:t>Usable films skew US, English, modern, mainstream</a:t>
            </a:r>
            <a:endParaRPr lang="en-US" sz="1200" dirty="0"/>
          </a:p>
          <a:p>
            <a:pPr marL="342900" indent="-342900">
              <a:spcAft>
                <a:spcPts val="400"/>
              </a:spcAft>
              <a:buSzPct val="100000"/>
              <a:buChar char="•"/>
            </a:pPr>
            <a:r>
              <a:rPr lang="en-US" sz="1200" dirty="0">
                <a:solidFill>
                  <a:srgbClr val="14213D"/>
                </a:solidFill>
                <a:latin typeface="Calibri" pitchFamily="34" charset="0"/>
                <a:ea typeface="Calibri" pitchFamily="34" charset="-122"/>
                <a:cs typeface="Calibri" pitchFamily="34" charset="-120"/>
              </a:rPr>
              <a:t>Only 561 non-English films have financials</a:t>
            </a:r>
            <a:endParaRPr lang="en-US" sz="12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C"/>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How these biases change our confidence in each recommendation</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828800"/>
                <a:gridCol w="1920240"/>
                <a:gridCol w="1554480"/>
                <a:gridCol w="1097280"/>
                <a:gridCol w="1828800"/>
              </a:tblGrid>
              <a:tr h="3657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Recommendation</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Bias that threatens it</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Likely distortion</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Confidence</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How we de-risk</a:t>
                      </a:r>
                      <a:endParaRPr lang="en-US" sz="12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14213D"/>
                    </a:solidFill>
                  </a:tcPr>
                </a:tc>
              </a:tr>
              <a:tr h="59436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Franchise tentpoles ($100M+)</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Survivorship (sequels); US/English skew</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Overstates ROI for a new IP</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5B6B8C"/>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Re-test on first-in-series films only</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r>
              <a:tr h="59436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Low-budget horror (&lt;$15M)</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Small-denominator ratio; only reporters survive</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Overstates ROI and hit rate</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MEDIUM-LOW</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E4572E"/>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Cap budgets; verify on external revenue data</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r>
              <a:tr h="59436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Avoid $5-30M standalone</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Nominal dollars; era mix</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Small; direction is stable</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MEDIUM-HIGH</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1F9E89"/>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Inflation-adjust and re-run by decade</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FFFFF"/>
                    </a:solidFill>
                  </a:tcPr>
                </a:tc>
              </a:tr>
              <a:tr h="59436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Release Jun/Jul/Dec, avoid Sep</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Competing releases and marketing unseen</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Possibly overstated for $60M+</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5B6B8C"/>
                    </a:solidFill>
                  </a:tcPr>
                </a:tc>
                <a:tc>
                  <a:txBody>
                    <a:bodyPr/>
                    <a:lstStyle/>
                    <a:p>
                      <a:pPr indent="0" marL="0">
                        <a:buNone/>
                      </a:pPr>
                      <a:r>
                        <a:rPr lang="en-US" sz="1100" dirty="0">
                          <a:solidFill>
                            <a:srgbClr val="14213D"/>
                          </a:solidFill>
                          <a:latin typeface="Calibri" pitchFamily="34" charset="0"/>
                          <a:ea typeface="Calibri" pitchFamily="34" charset="-122"/>
                          <a:cs typeface="Calibri" pitchFamily="34" charset="-120"/>
                        </a:rPr>
                        <a:t>Add release-calendar and marketing data</a:t>
                      </a:r>
                      <a:endParaRPr lang="en-US" sz="1100" dirty="0">
                        <a:latin typeface="Calibri" charset="0"/>
                        <a:ea typeface="Calibri" charset="0"/>
                        <a:cs typeface="Calibri" charset="0"/>
                      </a:endParaRPr>
                    </a:p>
                  </a:txBody>
                  <a:tcPr marL="91440" marR="91440" marT="45720" marB="45720" anchor="ctr">
                    <a:lnL w="6350" cap="flat" cmpd="sng" algn="ctr">
                      <a:solidFill>
                        <a:srgbClr val="E3E7EF"/>
                      </a:solidFill>
                      <a:prstDash val="solid"/>
                      <a:round/>
                      <a:headEnd type="none" w="med" len="med"/>
                      <a:tailEnd type="none" w="med" len="med"/>
                    </a:lnL>
                    <a:lnR w="6350" cap="flat" cmpd="sng" algn="ctr">
                      <a:solidFill>
                        <a:srgbClr val="E3E7EF"/>
                      </a:solidFill>
                      <a:prstDash val="solid"/>
                      <a:round/>
                      <a:headEnd type="none" w="med" len="med"/>
                      <a:tailEnd type="none" w="med" len="med"/>
                    </a:lnR>
                    <a:lnT w="6350" cap="flat" cmpd="sng" algn="ctr">
                      <a:solidFill>
                        <a:srgbClr val="E3E7EF"/>
                      </a:solidFill>
                      <a:prstDash val="solid"/>
                      <a:round/>
                      <a:headEnd type="none" w="med" len="med"/>
                      <a:tailEnd type="none" w="med" len="med"/>
                    </a:lnT>
                    <a:lnB w="6350" cap="flat" cmpd="sng" algn="ctr">
                      <a:solidFill>
                        <a:srgbClr val="E3E7EF"/>
                      </a:solidFill>
                      <a:prstDash val="solid"/>
                      <a:round/>
                      <a:headEnd type="none" w="med" len="med"/>
                      <a:tailEnd type="none" w="med" len="med"/>
                    </a:lnB>
                    <a:solidFill>
                      <a:srgbClr val="F7F8FB"/>
                    </a:solidFill>
                  </a:tcPr>
                </a:tc>
              </a:tr>
            </a:tbl>
          </a:graphicData>
        </a:graphic>
      </p:graphicFrame>
      <p:sp>
        <p:nvSpPr>
          <p:cNvPr id="4" name="Shape 1"/>
          <p:cNvSpPr/>
          <p:nvPr/>
        </p:nvSpPr>
        <p:spPr>
          <a:xfrm>
            <a:off x="457200" y="4069080"/>
            <a:ext cx="8229600" cy="594360"/>
          </a:xfrm>
          <a:prstGeom prst="roundRect">
            <a:avLst>
              <a:gd name="adj" fmla="val 12308"/>
            </a:avLst>
          </a:prstGeom>
          <a:solidFill>
            <a:srgbClr val="0B1426"/>
          </a:solidFill>
          <a:ln w="12700">
            <a:solidFill>
              <a:srgbClr val="0B1426"/>
            </a:solidFill>
            <a:prstDash val="solid"/>
          </a:ln>
        </p:spPr>
      </p:sp>
      <p:sp>
        <p:nvSpPr>
          <p:cNvPr id="5" name="Text 2"/>
          <p:cNvSpPr txBox="1"/>
          <p:nvPr/>
        </p:nvSpPr>
        <p:spPr>
          <a:xfrm>
            <a:off x="640080" y="4069080"/>
            <a:ext cx="7863840" cy="5943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Bottom line: the direction is credible, the exact multiples are not. Use them to rank options, not to forecast revenue.</a:t>
            </a:r>
            <a:endParaRPr lang="en-US" sz="13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C"/>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Next steps: validate in 30 days, pilot in 60, decide in 90</a:t>
            </a:r>
            <a:endParaRPr lang="en-US" sz="2600" dirty="0"/>
          </a:p>
        </p:txBody>
      </p:sp>
      <p:sp>
        <p:nvSpPr>
          <p:cNvPr id="3" name="Shape 1"/>
          <p:cNvSpPr/>
          <p:nvPr/>
        </p:nvSpPr>
        <p:spPr>
          <a:xfrm>
            <a:off x="457200" y="1188720"/>
            <a:ext cx="2633472" cy="2880360"/>
          </a:xfrm>
          <a:prstGeom prst="roundRect">
            <a:avLst>
              <a:gd name="adj" fmla="val 2778"/>
            </a:avLst>
          </a:prstGeom>
          <a:solidFill>
            <a:srgbClr val="16264A"/>
          </a:solidFill>
          <a:ln w="12700">
            <a:solidFill>
              <a:srgbClr val="2A3B66"/>
            </a:solidFill>
            <a:prstDash val="solid"/>
          </a:ln>
        </p:spPr>
      </p:sp>
      <p:sp>
        <p:nvSpPr>
          <p:cNvPr id="4" name="Text 2"/>
          <p:cNvSpPr txBox="1"/>
          <p:nvPr/>
        </p:nvSpPr>
        <p:spPr>
          <a:xfrm>
            <a:off x="640080" y="1298448"/>
            <a:ext cx="2286000" cy="256032"/>
          </a:xfrm>
          <a:prstGeom prst="rect">
            <a:avLst/>
          </a:prstGeom>
          <a:noFill/>
          <a:ln/>
        </p:spPr>
        <p:txBody>
          <a:bodyPr wrap="square" lIns="0" tIns="0" rIns="0" bIns="0" rtlCol="0" anchor="ctr"/>
          <a:lstStyle/>
          <a:p>
            <a:pPr indent="0" marL="0">
              <a:buNone/>
            </a:pPr>
            <a:r>
              <a:rPr lang="en-US" sz="1200" b="1" spc="200" kern="0" dirty="0">
                <a:solidFill>
                  <a:srgbClr val="1F9E89"/>
                </a:solidFill>
                <a:latin typeface="Calibri" pitchFamily="34" charset="0"/>
                <a:ea typeface="Calibri" pitchFamily="34" charset="-122"/>
                <a:cs typeface="Calibri" pitchFamily="34" charset="-120"/>
              </a:rPr>
              <a:t>DAYS 0-30</a:t>
            </a:r>
            <a:endParaRPr lang="en-US" sz="1200" dirty="0"/>
          </a:p>
        </p:txBody>
      </p:sp>
      <p:sp>
        <p:nvSpPr>
          <p:cNvPr id="5" name="Text 3"/>
          <p:cNvSpPr txBox="1"/>
          <p:nvPr/>
        </p:nvSpPr>
        <p:spPr>
          <a:xfrm>
            <a:off x="640080" y="1572768"/>
            <a:ext cx="22860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Validate the data</a:t>
            </a:r>
            <a:endParaRPr lang="en-US" sz="1800" dirty="0"/>
          </a:p>
        </p:txBody>
      </p:sp>
      <p:sp>
        <p:nvSpPr>
          <p:cNvPr id="6" name="Text 4"/>
          <p:cNvSpPr txBox="1"/>
          <p:nvPr/>
        </p:nvSpPr>
        <p:spPr>
          <a:xfrm>
            <a:off x="640080" y="2011680"/>
            <a:ext cx="2286000" cy="1965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3E8F4"/>
                </a:solidFill>
                <a:latin typeface="Calibri" pitchFamily="34" charset="0"/>
                <a:ea typeface="Calibri" pitchFamily="34" charset="-122"/>
                <a:cs typeface="Calibri" pitchFamily="34" charset="-120"/>
              </a:rPr>
              <a:t>Add external box-office and budget sources to fill the 88% gap</a:t>
            </a:r>
            <a:endParaRPr lang="en-US" sz="1200" dirty="0"/>
          </a:p>
          <a:p>
            <a:pPr marL="342900" indent="-342900">
              <a:spcAft>
                <a:spcPts val="600"/>
              </a:spcAft>
              <a:buSzPct val="100000"/>
              <a:buChar char="•"/>
            </a:pPr>
            <a:r>
              <a:rPr lang="en-US" sz="1200" dirty="0">
                <a:solidFill>
                  <a:srgbClr val="E3E8F4"/>
                </a:solidFill>
                <a:latin typeface="Calibri" pitchFamily="34" charset="0"/>
                <a:ea typeface="Calibri" pitchFamily="34" charset="-122"/>
                <a:cs typeface="Calibri" pitchFamily="34" charset="-120"/>
              </a:rPr>
              <a:t>Inflation-adjust all dollars; add marketing cost estimates</a:t>
            </a:r>
            <a:endParaRPr lang="en-US" sz="1200" dirty="0"/>
          </a:p>
          <a:p>
            <a:pPr marL="342900" indent="-342900">
              <a:spcAft>
                <a:spcPts val="600"/>
              </a:spcAft>
              <a:buSzPct val="100000"/>
              <a:buChar char="•"/>
            </a:pPr>
            <a:r>
              <a:rPr lang="en-US" sz="1200" dirty="0">
                <a:solidFill>
                  <a:srgbClr val="E3E8F4"/>
                </a:solidFill>
                <a:latin typeface="Calibri" pitchFamily="34" charset="0"/>
                <a:ea typeface="Calibri" pitchFamily="34" charset="-122"/>
                <a:cs typeface="Calibri" pitchFamily="34" charset="-120"/>
              </a:rPr>
              <a:t>Re-run ROI on first-in-series and international films</a:t>
            </a:r>
            <a:endParaRPr lang="en-US" sz="1200" dirty="0"/>
          </a:p>
        </p:txBody>
      </p:sp>
      <p:sp>
        <p:nvSpPr>
          <p:cNvPr id="7" name="Shape 5"/>
          <p:cNvSpPr/>
          <p:nvPr/>
        </p:nvSpPr>
        <p:spPr>
          <a:xfrm>
            <a:off x="3264408" y="1188720"/>
            <a:ext cx="2633472" cy="2880360"/>
          </a:xfrm>
          <a:prstGeom prst="roundRect">
            <a:avLst>
              <a:gd name="adj" fmla="val 2778"/>
            </a:avLst>
          </a:prstGeom>
          <a:solidFill>
            <a:srgbClr val="16264A"/>
          </a:solidFill>
          <a:ln w="12700">
            <a:solidFill>
              <a:srgbClr val="2A3B66"/>
            </a:solidFill>
            <a:prstDash val="solid"/>
          </a:ln>
        </p:spPr>
      </p:sp>
      <p:sp>
        <p:nvSpPr>
          <p:cNvPr id="8" name="Text 6"/>
          <p:cNvSpPr txBox="1"/>
          <p:nvPr/>
        </p:nvSpPr>
        <p:spPr>
          <a:xfrm>
            <a:off x="3447288" y="1298448"/>
            <a:ext cx="2286000" cy="256032"/>
          </a:xfrm>
          <a:prstGeom prst="rect">
            <a:avLst/>
          </a:prstGeom>
          <a:noFill/>
          <a:ln/>
        </p:spPr>
        <p:txBody>
          <a:bodyPr wrap="square" lIns="0" tIns="0" rIns="0" bIns="0" rtlCol="0" anchor="ctr"/>
          <a:lstStyle/>
          <a:p>
            <a:pPr indent="0" marL="0">
              <a:buNone/>
            </a:pPr>
            <a:r>
              <a:rPr lang="en-US" sz="1200" b="1" spc="200" kern="0" dirty="0">
                <a:solidFill>
                  <a:srgbClr val="F2B134"/>
                </a:solidFill>
                <a:latin typeface="Calibri" pitchFamily="34" charset="0"/>
                <a:ea typeface="Calibri" pitchFamily="34" charset="-122"/>
                <a:cs typeface="Calibri" pitchFamily="34" charset="-120"/>
              </a:rPr>
              <a:t>DAYS 31-60</a:t>
            </a:r>
            <a:endParaRPr lang="en-US" sz="1200" dirty="0"/>
          </a:p>
        </p:txBody>
      </p:sp>
      <p:sp>
        <p:nvSpPr>
          <p:cNvPr id="9" name="Text 7"/>
          <p:cNvSpPr txBox="1"/>
          <p:nvPr/>
        </p:nvSpPr>
        <p:spPr>
          <a:xfrm>
            <a:off x="3447288" y="1572768"/>
            <a:ext cx="22860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Pilot the slate</a:t>
            </a:r>
            <a:endParaRPr lang="en-US" sz="1800" dirty="0"/>
          </a:p>
        </p:txBody>
      </p:sp>
      <p:sp>
        <p:nvSpPr>
          <p:cNvPr id="10" name="Text 8"/>
          <p:cNvSpPr txBox="1"/>
          <p:nvPr/>
        </p:nvSpPr>
        <p:spPr>
          <a:xfrm>
            <a:off x="3447288" y="2011680"/>
            <a:ext cx="2286000" cy="1965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3E8F4"/>
                </a:solidFill>
                <a:latin typeface="Calibri" pitchFamily="34" charset="0"/>
                <a:ea typeface="Calibri" pitchFamily="34" charset="-122"/>
                <a:cs typeface="Calibri" pitchFamily="34" charset="-120"/>
              </a:rPr>
              <a:t>Shortlist 1 franchise-able animation or family tentpole</a:t>
            </a:r>
            <a:endParaRPr lang="en-US" sz="1200" dirty="0"/>
          </a:p>
          <a:p>
            <a:pPr marL="342900" indent="-342900">
              <a:spcAft>
                <a:spcPts val="600"/>
              </a:spcAft>
              <a:buSzPct val="100000"/>
              <a:buChar char="•"/>
            </a:pPr>
            <a:r>
              <a:rPr lang="en-US" sz="1200" dirty="0">
                <a:solidFill>
                  <a:srgbClr val="E3E8F4"/>
                </a:solidFill>
                <a:latin typeface="Calibri" pitchFamily="34" charset="0"/>
                <a:ea typeface="Calibri" pitchFamily="34" charset="-122"/>
                <a:cs typeface="Calibri" pitchFamily="34" charset="-120"/>
              </a:rPr>
              <a:t>Greenlight 2 horror projects capped under $15M</a:t>
            </a:r>
            <a:endParaRPr lang="en-US" sz="1200" dirty="0"/>
          </a:p>
          <a:p>
            <a:pPr marL="342900" indent="-342900">
              <a:spcAft>
                <a:spcPts val="600"/>
              </a:spcAft>
              <a:buSzPct val="100000"/>
              <a:buChar char="•"/>
            </a:pPr>
            <a:r>
              <a:rPr lang="en-US" sz="1200" dirty="0">
                <a:solidFill>
                  <a:srgbClr val="E3E8F4"/>
                </a:solidFill>
                <a:latin typeface="Calibri" pitchFamily="34" charset="0"/>
                <a:ea typeface="Calibri" pitchFamily="34" charset="-122"/>
                <a:cs typeface="Calibri" pitchFamily="34" charset="-120"/>
              </a:rPr>
              <a:t>Place releases in June, July or December; hold mid-budget standalones</a:t>
            </a:r>
            <a:endParaRPr lang="en-US" sz="1200" dirty="0"/>
          </a:p>
        </p:txBody>
      </p:sp>
      <p:sp>
        <p:nvSpPr>
          <p:cNvPr id="11" name="Shape 9"/>
          <p:cNvSpPr/>
          <p:nvPr/>
        </p:nvSpPr>
        <p:spPr>
          <a:xfrm>
            <a:off x="6071616" y="1188720"/>
            <a:ext cx="2633472" cy="2880360"/>
          </a:xfrm>
          <a:prstGeom prst="roundRect">
            <a:avLst>
              <a:gd name="adj" fmla="val 2778"/>
            </a:avLst>
          </a:prstGeom>
          <a:solidFill>
            <a:srgbClr val="16264A"/>
          </a:solidFill>
          <a:ln w="12700">
            <a:solidFill>
              <a:srgbClr val="2A3B66"/>
            </a:solidFill>
            <a:prstDash val="solid"/>
          </a:ln>
        </p:spPr>
      </p:sp>
      <p:sp>
        <p:nvSpPr>
          <p:cNvPr id="12" name="Text 10"/>
          <p:cNvSpPr txBox="1"/>
          <p:nvPr/>
        </p:nvSpPr>
        <p:spPr>
          <a:xfrm>
            <a:off x="6254496" y="1298448"/>
            <a:ext cx="2286000" cy="256032"/>
          </a:xfrm>
          <a:prstGeom prst="rect">
            <a:avLst/>
          </a:prstGeom>
          <a:noFill/>
          <a:ln/>
        </p:spPr>
        <p:txBody>
          <a:bodyPr wrap="square" lIns="0" tIns="0" rIns="0" bIns="0" rtlCol="0" anchor="ctr"/>
          <a:lstStyle/>
          <a:p>
            <a:pPr indent="0" marL="0">
              <a:buNone/>
            </a:pPr>
            <a:r>
              <a:rPr lang="en-US" sz="1200" b="1" spc="200" kern="0" dirty="0">
                <a:solidFill>
                  <a:srgbClr val="E4572E"/>
                </a:solidFill>
                <a:latin typeface="Calibri" pitchFamily="34" charset="0"/>
                <a:ea typeface="Calibri" pitchFamily="34" charset="-122"/>
                <a:cs typeface="Calibri" pitchFamily="34" charset="-120"/>
              </a:rPr>
              <a:t>DAYS 61-90</a:t>
            </a:r>
            <a:endParaRPr lang="en-US" sz="1200" dirty="0"/>
          </a:p>
        </p:txBody>
      </p:sp>
      <p:sp>
        <p:nvSpPr>
          <p:cNvPr id="13" name="Text 11"/>
          <p:cNvSpPr txBox="1"/>
          <p:nvPr/>
        </p:nvSpPr>
        <p:spPr>
          <a:xfrm>
            <a:off x="6254496" y="1572768"/>
            <a:ext cx="22860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Decide and monitor</a:t>
            </a:r>
            <a:endParaRPr lang="en-US" sz="1800" dirty="0"/>
          </a:p>
        </p:txBody>
      </p:sp>
      <p:sp>
        <p:nvSpPr>
          <p:cNvPr id="14" name="Text 12"/>
          <p:cNvSpPr txBox="1"/>
          <p:nvPr/>
        </p:nvSpPr>
        <p:spPr>
          <a:xfrm>
            <a:off x="6254496" y="2011680"/>
            <a:ext cx="2286000" cy="1965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3E8F4"/>
                </a:solidFill>
                <a:latin typeface="Calibri" pitchFamily="34" charset="0"/>
                <a:ea typeface="Calibri" pitchFamily="34" charset="-122"/>
                <a:cs typeface="Calibri" pitchFamily="34" charset="-120"/>
              </a:rPr>
              <a:t>Track share of films reaching 2x budget (target 60%+)</a:t>
            </a:r>
            <a:endParaRPr lang="en-US" sz="1200" dirty="0"/>
          </a:p>
          <a:p>
            <a:pPr marL="342900" indent="-342900">
              <a:spcAft>
                <a:spcPts val="600"/>
              </a:spcAft>
              <a:buSzPct val="100000"/>
              <a:buChar char="•"/>
            </a:pPr>
            <a:r>
              <a:rPr lang="en-US" sz="1200" dirty="0">
                <a:solidFill>
                  <a:srgbClr val="E3E8F4"/>
                </a:solidFill>
                <a:latin typeface="Calibri" pitchFamily="34" charset="0"/>
                <a:ea typeface="Calibri" pitchFamily="34" charset="-122"/>
                <a:cs typeface="Calibri" pitchFamily="34" charset="-120"/>
              </a:rPr>
              <a:t>Track median ROI by tier against the data benchmarks</a:t>
            </a:r>
            <a:endParaRPr lang="en-US" sz="1200" dirty="0"/>
          </a:p>
          <a:p>
            <a:pPr marL="342900" indent="-342900">
              <a:spcAft>
                <a:spcPts val="600"/>
              </a:spcAft>
              <a:buSzPct val="100000"/>
              <a:buChar char="•"/>
            </a:pPr>
            <a:r>
              <a:rPr lang="en-US" sz="1200" dirty="0">
                <a:solidFill>
                  <a:srgbClr val="E3E8F4"/>
                </a:solidFill>
                <a:latin typeface="Calibri" pitchFamily="34" charset="0"/>
                <a:ea typeface="Calibri" pitchFamily="34" charset="-122"/>
                <a:cs typeface="Calibri" pitchFamily="34" charset="-120"/>
              </a:rPr>
              <a:t>Executive go/no-go on the full slate at day 90</a:t>
            </a:r>
            <a:endParaRPr lang="en-US" sz="1200" dirty="0"/>
          </a:p>
        </p:txBody>
      </p:sp>
      <p:sp>
        <p:nvSpPr>
          <p:cNvPr id="15" name="Text 13"/>
          <p:cNvSpPr txBox="1"/>
          <p:nvPr/>
        </p:nvSpPr>
        <p:spPr>
          <a:xfrm>
            <a:off x="457200" y="4206240"/>
            <a:ext cx="8229600" cy="457200"/>
          </a:xfrm>
          <a:prstGeom prst="rect">
            <a:avLst/>
          </a:prstGeom>
          <a:noFill/>
          <a:ln/>
        </p:spPr>
        <p:txBody>
          <a:bodyPr wrap="square" lIns="0" tIns="0" rIns="0" bIns="0" rtlCol="0" anchor="ctr"/>
          <a:lstStyle/>
          <a:p>
            <a:pPr indent="0" marL="0">
              <a:buNone/>
            </a:pPr>
            <a:r>
              <a:rPr lang="en-US" sz="1400" b="1" dirty="0">
                <a:solidFill>
                  <a:srgbClr val="F2B134"/>
                </a:solidFill>
                <a:latin typeface="Calibri" pitchFamily="34" charset="0"/>
                <a:ea typeface="Calibri" pitchFamily="34" charset="-122"/>
                <a:cs typeface="Calibri" pitchFamily="34" charset="-120"/>
              </a:rPr>
              <a:t>Decision requested today: </a:t>
            </a:r>
            <a:pPr indent="0" marL="0">
              <a:buNone/>
            </a:pPr>
            <a:r>
              <a:rPr lang="en-US" sz="1400" dirty="0">
                <a:solidFill>
                  <a:srgbClr val="FFFFFF"/>
                </a:solidFill>
                <a:latin typeface="Calibri" pitchFamily="34" charset="0"/>
                <a:ea typeface="Calibri" pitchFamily="34" charset="-122"/>
                <a:cs typeface="Calibri" pitchFamily="34" charset="-120"/>
              </a:rPr>
              <a:t>approve the 90-day validation and pilot plan, with no full-slate commitment until day 90.</a:t>
            </a:r>
            <a:endParaRPr lang="en-US" sz="1400" dirty="0"/>
          </a:p>
        </p:txBody>
      </p:sp>
    </p:spTree>
  </p:cSld>
  <p:clrMapOvr>
    <a:masterClrMapping/>
  </p:clrMapOvr>
</p:sld>
</file>

<file path=ppt/theme/theme1.xml><?xml version="1.0" encoding="utf-8"?>
<a:theme xmlns:a="http://schemas.openxmlformats.org/drawingml/2006/main" name="Spectacular">
  <a:themeElements>
    <a:clrScheme name="Spectacular">
      <a:dk1>
        <a:srgbClr val="14213D"/>
      </a:dk1>
      <a:lt1>
        <a:srgbClr val="FFFFFF"/>
      </a:lt1>
      <a:dk2>
        <a:srgbClr val="0B1426"/>
      </a:dk2>
      <a:lt2>
        <a:srgbClr val="F3F5F9"/>
      </a:lt2>
      <a:accent1>
        <a:srgbClr val="F2B134"/>
      </a:accent1>
      <a:accent2>
        <a:srgbClr val="1F9E89"/>
      </a:accent2>
      <a:accent3>
        <a:srgbClr val="E4572E"/>
      </a:accent3>
      <a:accent4>
        <a:srgbClr val="5B6B8C"/>
      </a:accent4>
      <a:accent5>
        <a:srgbClr val="8FA3C7"/>
      </a:accent5>
      <a:accent6>
        <a:srgbClr val="C9D1E0"/>
      </a:accent6>
      <a:hlink>
        <a:srgbClr val="1F9E89"/>
      </a:hlink>
      <a:folHlink>
        <a:srgbClr val="5B6B8C"/>
      </a:folHlink>
    </a:clrScheme>
    <a:fontScheme name="Spectacula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Spectacular Studios: Greenlight Recommendation</dc:title>
  <dc:subject>PptxGenJS Presentation</dc:subject>
  <dc:creator>Data Analytics</dc:creator>
  <cp:lastModifiedBy>Data Analytics</cp:lastModifiedBy>
  <cp:revision>1</cp:revision>
  <dcterms:created xsi:type="dcterms:W3CDTF">2026-10-16T04:56:38Z</dcterms:created>
  <dcterms:modified xsi:type="dcterms:W3CDTF">2026-10-16T04:56:38Z</dcterms:modified>
</cp:coreProperties>
</file>